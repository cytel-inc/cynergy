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147473651" r:id="rId2"/>
    <p:sldId id="2147473890" r:id="rId3"/>
    <p:sldId id="2147473892" r:id="rId4"/>
    <p:sldId id="2147473867" r:id="rId5"/>
    <p:sldId id="2147473895" r:id="rId6"/>
    <p:sldId id="2147473925" r:id="rId7"/>
    <p:sldId id="2147473926" r:id="rId8"/>
    <p:sldId id="2147473896" r:id="rId9"/>
    <p:sldId id="2147473880" r:id="rId10"/>
    <p:sldId id="2147473930" r:id="rId11"/>
    <p:sldId id="2147473927" r:id="rId12"/>
    <p:sldId id="2147473933" r:id="rId13"/>
    <p:sldId id="2147473932" r:id="rId14"/>
    <p:sldId id="2147473928" r:id="rId15"/>
    <p:sldId id="2147473885" r:id="rId16"/>
    <p:sldId id="2147473882" r:id="rId17"/>
    <p:sldId id="2147473881" r:id="rId18"/>
    <p:sldId id="2147473888" r:id="rId19"/>
    <p:sldId id="2147473934" r:id="rId20"/>
    <p:sldId id="2147473900" r:id="rId21"/>
    <p:sldId id="2147473935" r:id="rId22"/>
    <p:sldId id="2147473936" r:id="rId23"/>
    <p:sldId id="2147473937" r:id="rId24"/>
    <p:sldId id="2147473941" r:id="rId25"/>
    <p:sldId id="2147473938" r:id="rId26"/>
    <p:sldId id="2147473942" r:id="rId27"/>
    <p:sldId id="2147473944" r:id="rId28"/>
    <p:sldId id="214747376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77AC2C-10B1-A55E-8D2F-5AD60BE7DE3F}" name="Adam Svender" initials="AS" userId="S::adam.svender@cytel.com::ffe519ed-2b99-4d97-b9a7-5f8315980057" providerId="AD"/>
  <p188:author id="{B074E07D-5F54-3BE0-C0A2-9A566BFDD3D9}" name="Kyle Wathen" initials="JW" userId="S::Kyle.Wathen@cytel.com::7185343f-6430-4041-9a99-f4d9bf40d8bd" providerId="AD"/>
  <p188:author id="{7EA0C496-1911-041F-D2E6-14ABFF4002EA}" name="Boaz Adler" initials="" userId="S::boaz.adler@cytel.com::7a4ac101-c0fc-4266-b870-a256ed2a8986" providerId="AD"/>
  <p188:author id="{0E2F2AA8-BD5F-1E71-CB49-800FC59B283A}" name="Kelly Gelinne" initials="KG" userId="S::kelly.gelinne@cytel.com::185bed92-e76f-4fac-8f3c-80047fca2ae3" providerId="AD"/>
  <p188:author id="{E8DF45C9-AAF6-52EA-3E73-9FAA25815A71}" name="Rhiannon Sheapare" initials="RS" userId="S::rhiannon@cytel.com::c804ab3a-2be7-45e0-8d57-41b31e1c95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66339-375B-43EA-9B06-9DAB594659E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6ADCE-86B9-4B30-8127-61CCB56C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8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6ADCE-86B9-4B30-8127-61CCB56C45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64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09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DE3A-C689-CAF2-CB99-334108B6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8E8B0-8597-585F-9E0B-8EAE3CFB5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11A97-3CA4-E8AB-6AF0-BDE4C4983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823E-D478-AA64-1834-5D9154685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15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C438-2167-81D5-FD48-26342E1C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2694A-4413-F6D9-5AFA-0E035515A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B2B12-3400-E3CA-288E-D0AC7656D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E6D2A-7EDA-5586-111B-60D659818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92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2F34-3F8B-C966-1C8C-A7389A4DC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C96A5-FD30-394B-2CCA-4862AAF06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D2F26-52B6-B646-D64A-354404E85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90D26-66A9-73B2-9828-7C7018468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83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0434-3A8C-44E5-87C2-73E311B2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F5772-75D1-5EBB-4285-917F66F7F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F5932-A729-E6CF-6C37-101C3C7FE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9DCFC-70B4-C7C7-D086-6EE610958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59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A867-F0AC-BF3D-7986-EF2EA760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A7230-9D46-2850-49D4-FBE45F29E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7B96F-5602-D518-1045-D4CF8C96B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7B51C-5432-618A-60A7-6EC9E9769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29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2076A-5CB2-0556-6D52-EDE0B41A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C338A-F29B-9D7B-ACC1-C7E3C051A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54D18-E8B8-E172-F5F8-9A1498F7B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EBAC-0DC6-87C5-AF9E-35B1B2BC2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81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7E28D-DFB8-20C5-9161-18E480BD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15D02-73E3-41A2-EC4A-748A65768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A23CF-C7A0-9B57-E31F-254A4130D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086FB-52F8-7397-7E75-18D7B0E39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4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D4A1-F3C8-43B4-EBA4-742567E8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F874A-F754-F0DC-EE46-ED00B2AE4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D84A0-F8A5-9C88-DD6D-C148BB404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CCB79-E400-BA8F-5921-BD941FA37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54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809F-AAC0-9BF4-DBA1-CC76075C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FE2FA-C43E-B2BD-00A0-FAF30800D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1D49F-D686-83B6-337F-6324F7EA2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762B7-4DF8-B561-632F-A114BB831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A6A3-9C40-4E6B-8ECB-267118A6FB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42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75B2-0A92-2C40-F1E4-F492AEA9E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8B6FE-C54F-8BFF-0B14-F7590645A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76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54549F7-7224-A393-8EB8-1860877A21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3768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4549F7-7224-A393-8EB8-1860877A21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87FA286-62D7-3D3B-4A93-B2113878B086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45000">
                <a:schemeClr val="accent3"/>
              </a:gs>
              <a:gs pos="0">
                <a:srgbClr val="A33979"/>
              </a:gs>
              <a:gs pos="100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Google Shape;340;p43">
            <a:extLst>
              <a:ext uri="{FF2B5EF4-FFF2-40B4-BE49-F238E27FC236}">
                <a16:creationId xmlns:a16="http://schemas.microsoft.com/office/drawing/2014/main" id="{AB1D88B9-7B4D-283D-1A11-174AC467BBAB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513" y="353115"/>
            <a:ext cx="1489530" cy="6301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5">
            <a:extLst>
              <a:ext uri="{FF2B5EF4-FFF2-40B4-BE49-F238E27FC236}">
                <a16:creationId xmlns:a16="http://schemas.microsoft.com/office/drawing/2014/main" id="{3613E779-52F2-F057-ABFB-230B5C754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514" y="3699092"/>
            <a:ext cx="6228892" cy="3077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D1BEC4F-2ECE-B572-7DB6-C5C77040E1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6400" y="6311900"/>
            <a:ext cx="2895600" cy="2667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Presentation Date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7B6FA73-BA80-9135-DCC2-93A0D00E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13" y="2986784"/>
            <a:ext cx="7596911" cy="55399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184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6419D39-AF48-4A40-1EA5-1B45A2BB41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8571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419D39-AF48-4A40-1EA5-1B45A2BB41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7A8217A-BCED-7A79-1EBA-85E9D3CC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6441"/>
            <a:ext cx="11430000" cy="44319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6E04C90-39FE-B5E0-348A-8386FCBF4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5966" y="6499582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FA57618-8A3F-4BF2-AF0B-76D53F4172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9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6419D39-AF48-4A40-1EA5-1B45A2BB41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75942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419D39-AF48-4A40-1EA5-1B45A2BB41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7A8217A-BCED-7A79-1EBA-85E9D3CC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6441"/>
            <a:ext cx="11430000" cy="44319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E9378-BC4A-C24B-6CD8-A50CB49E6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48223"/>
            <a:ext cx="114300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B35BE7E-D2A5-F6F5-1D06-C1CD923E9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5966" y="6499582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FA57618-8A3F-4BF2-AF0B-76D53F4172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Row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D85EEFD1-87D3-429E-B3F5-AD9C07C80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82428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D85EEFD1-87D3-429E-B3F5-AD9C07C80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16">
            <a:extLst>
              <a:ext uri="{FF2B5EF4-FFF2-40B4-BE49-F238E27FC236}">
                <a16:creationId xmlns:a16="http://schemas.microsoft.com/office/drawing/2014/main" id="{5BAF1363-3512-2ED0-786A-6BFA0950D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6441"/>
            <a:ext cx="11430000" cy="443198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7F9837D-C3A8-0F3A-0EA7-86A7180D3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32760" y="1581584"/>
            <a:ext cx="8778240" cy="9144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0544C32-DDF8-A2A4-9F06-0DDADFC63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32760" y="2675337"/>
            <a:ext cx="8778240" cy="9144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E8E95AA-AFD4-B390-AB5D-16F3D43917E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032760" y="3769090"/>
            <a:ext cx="8778240" cy="9144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3AD1680F-4FF2-1FAF-8148-2AFB9E003E6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3032760" y="4862844"/>
            <a:ext cx="8778240" cy="9144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C39C26-49CD-B770-330A-D4E8B6670BF1}"/>
              </a:ext>
            </a:extLst>
          </p:cNvPr>
          <p:cNvCxnSpPr>
            <a:cxnSpLocks/>
          </p:cNvCxnSpPr>
          <p:nvPr userDrawn="1"/>
        </p:nvCxnSpPr>
        <p:spPr>
          <a:xfrm>
            <a:off x="381000" y="2585661"/>
            <a:ext cx="11430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2F1EC8-BC9A-7498-8307-302CA70C312A}"/>
              </a:ext>
            </a:extLst>
          </p:cNvPr>
          <p:cNvCxnSpPr>
            <a:cxnSpLocks/>
          </p:cNvCxnSpPr>
          <p:nvPr userDrawn="1"/>
        </p:nvCxnSpPr>
        <p:spPr>
          <a:xfrm>
            <a:off x="381000" y="4773169"/>
            <a:ext cx="11430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EC4070C-DD5B-6AB8-489A-99EE9A6E9664}"/>
              </a:ext>
            </a:extLst>
          </p:cNvPr>
          <p:cNvCxnSpPr>
            <a:cxnSpLocks/>
          </p:cNvCxnSpPr>
          <p:nvPr userDrawn="1"/>
        </p:nvCxnSpPr>
        <p:spPr>
          <a:xfrm>
            <a:off x="381000" y="3679415"/>
            <a:ext cx="11430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05B0EE9-C09D-BFA8-B57E-3DE1509274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4862844"/>
            <a:ext cx="2520000" cy="914400"/>
          </a:xfrm>
          <a:prstGeom prst="rect">
            <a:avLst/>
          </a:prstGeom>
          <a:noFill/>
          <a:ln>
            <a:noFill/>
          </a:ln>
        </p:spPr>
        <p:txBody>
          <a:bodyPr lIns="90000" rIns="91440" anchor="ctr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7568A68-9E72-63AC-E12A-7C4B618DC1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581584"/>
            <a:ext cx="2520000" cy="914400"/>
          </a:xfrm>
          <a:prstGeom prst="rect">
            <a:avLst/>
          </a:prstGeom>
          <a:noFill/>
          <a:ln>
            <a:noFill/>
          </a:ln>
        </p:spPr>
        <p:txBody>
          <a:bodyPr lIns="90000" rIns="91440" anchor="ctr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D026958-8C2E-1056-00DE-71F33791DC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81000" y="2675338"/>
            <a:ext cx="2520000" cy="914400"/>
          </a:xfrm>
          <a:prstGeom prst="rect">
            <a:avLst/>
          </a:prstGeom>
          <a:noFill/>
          <a:ln>
            <a:noFill/>
          </a:ln>
        </p:spPr>
        <p:txBody>
          <a:bodyPr lIns="90000" rIns="91440" anchor="ctr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97798299-98C0-A611-2D05-D70399909ED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81000" y="3769092"/>
            <a:ext cx="2520000" cy="914400"/>
          </a:xfrm>
          <a:prstGeom prst="rect">
            <a:avLst/>
          </a:prstGeom>
          <a:noFill/>
          <a:ln>
            <a:noFill/>
          </a:ln>
        </p:spPr>
        <p:txBody>
          <a:bodyPr lIns="90000" rIns="91440" anchor="ctr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4A31B0-3486-3237-C602-E53D6E8CB53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685966" y="6499582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FA57618-8A3F-4BF2-AF0B-76D53F4172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llou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EDD482F-52E8-887F-D776-02CCF77647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4172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DD482F-52E8-887F-D776-02CCF7764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16">
            <a:extLst>
              <a:ext uri="{FF2B5EF4-FFF2-40B4-BE49-F238E27FC236}">
                <a16:creationId xmlns:a16="http://schemas.microsoft.com/office/drawing/2014/main" id="{B1E2EE3D-FAA6-4C3D-87F8-4096F4AC69F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708490" y="1787631"/>
            <a:ext cx="4099347" cy="4383197"/>
          </a:xfrm>
          <a:prstGeom prst="roundRect">
            <a:avLst>
              <a:gd name="adj" fmla="val 2726"/>
            </a:avLst>
          </a:prstGeom>
          <a:solidFill>
            <a:schemeClr val="accent2"/>
          </a:solidFill>
        </p:spPr>
        <p:txBody>
          <a:bodyPr wrap="square" lIns="360000" tIns="360000" rIns="360000" bIns="540000" anchor="ctr">
            <a:noAutofit/>
          </a:bodyPr>
          <a:lstStyle>
            <a:lvl1pPr marL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Font typeface="Arial" panose="020B0604020202020204" pitchFamily="34" charset="0"/>
              <a:buChar char="•"/>
              <a:defRPr sz="1600"/>
            </a:lvl3pPr>
            <a:lvl4pPr>
              <a:buFont typeface="Arial" panose="020B0604020202020204" pitchFamily="34" charset="0"/>
              <a:buChar char="•"/>
              <a:defRPr sz="1600"/>
            </a:lvl4pPr>
            <a:lvl5pP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Sollicitudin</a:t>
            </a:r>
            <a:r>
              <a:rPr lang="en-US"/>
              <a:t> ac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41662-C8A1-45D5-9E51-B790B7E84FA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798387"/>
            <a:ext cx="6960268" cy="4351338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buFont typeface="Arial" panose="020B0604020202020204" pitchFamily="34" charset="0"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Font typeface="Arial" panose="020B0604020202020204" pitchFamily="34" charset="0"/>
              <a:buChar char="•"/>
              <a:defRPr sz="1600"/>
            </a:lvl3pPr>
            <a:lvl4pPr>
              <a:buFont typeface="Arial" panose="020B0604020202020204" pitchFamily="34" charset="0"/>
              <a:buChar char="•"/>
              <a:defRPr sz="1600"/>
            </a:lvl4pPr>
            <a:lvl5pP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Sollicitudin</a:t>
            </a:r>
            <a:r>
              <a:rPr lang="en-US"/>
              <a:t> ac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</a:t>
            </a:r>
          </a:p>
          <a:p>
            <a:pPr lvl="0"/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non </a:t>
            </a:r>
            <a:r>
              <a:rPr lang="en-US" err="1"/>
              <a:t>curabitur</a:t>
            </a:r>
            <a:r>
              <a:rPr lang="en-US"/>
              <a:t> gravida.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.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at </a:t>
            </a:r>
            <a:r>
              <a:rPr lang="en-US" err="1"/>
              <a:t>consectetur</a:t>
            </a:r>
            <a:r>
              <a:rPr lang="en-US"/>
              <a:t> lorem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. </a:t>
            </a:r>
          </a:p>
          <a:p>
            <a:pPr lvl="0"/>
            <a:r>
              <a:rPr lang="en-US"/>
              <a:t>Cursus in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platea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fames ac </a:t>
            </a:r>
            <a:r>
              <a:rPr lang="en-US" err="1"/>
              <a:t>turpis</a:t>
            </a:r>
            <a:r>
              <a:rPr lang="en-US"/>
              <a:t>. Massa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pulvinar </a:t>
            </a:r>
            <a:r>
              <a:rPr lang="en-US" err="1"/>
              <a:t>sapien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  <a:p>
            <a:pPr lvl="0"/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in. </a:t>
            </a:r>
            <a:r>
              <a:rPr lang="en-US" err="1"/>
              <a:t>Nulla</a:t>
            </a:r>
            <a:r>
              <a:rPr lang="en-US"/>
              <a:t> at </a:t>
            </a:r>
            <a:r>
              <a:rPr lang="en-US" err="1"/>
              <a:t>volutpat</a:t>
            </a:r>
            <a:r>
              <a:rPr lang="en-US"/>
              <a:t> diam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in </a:t>
            </a:r>
            <a:r>
              <a:rPr lang="en-US" err="1"/>
              <a:t>metus</a:t>
            </a:r>
            <a:r>
              <a:rPr lang="en-US"/>
              <a:t>.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sit. </a:t>
            </a:r>
          </a:p>
          <a:p>
            <a:pPr lvl="0"/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. Pretium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id </a:t>
            </a:r>
            <a:r>
              <a:rPr lang="en-US" err="1"/>
              <a:t>leo</a:t>
            </a:r>
            <a:r>
              <a:rPr lang="en-US"/>
              <a:t> in. Mi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tincidunt</a:t>
            </a:r>
            <a:endParaRPr lang="en-US"/>
          </a:p>
          <a:p>
            <a:pPr lvl="0"/>
            <a:r>
              <a:rPr lang="en-US"/>
              <a:t>Cursus in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platea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fames ac </a:t>
            </a:r>
            <a:r>
              <a:rPr lang="en-US" err="1"/>
              <a:t>turpis</a:t>
            </a:r>
            <a:r>
              <a:rPr lang="en-US"/>
              <a:t>. Massa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pulvinar </a:t>
            </a:r>
            <a:r>
              <a:rPr lang="en-US" err="1"/>
              <a:t>sapien</a:t>
            </a:r>
            <a:r>
              <a:rPr lang="en-US"/>
              <a:t> et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  <a:p>
            <a:pPr lvl="0"/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in. </a:t>
            </a:r>
            <a:r>
              <a:rPr lang="en-US" err="1"/>
              <a:t>Nulla</a:t>
            </a:r>
            <a:r>
              <a:rPr lang="en-US"/>
              <a:t> at </a:t>
            </a:r>
            <a:r>
              <a:rPr lang="en-US" err="1"/>
              <a:t>volutpat</a:t>
            </a:r>
            <a:r>
              <a:rPr lang="en-US"/>
              <a:t> diam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in </a:t>
            </a:r>
            <a:r>
              <a:rPr lang="en-US" err="1"/>
              <a:t>metus</a:t>
            </a:r>
            <a:r>
              <a:rPr lang="en-US"/>
              <a:t>.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sit. </a:t>
            </a:r>
          </a:p>
          <a:p>
            <a:pPr lvl="0"/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. Pretium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id </a:t>
            </a:r>
            <a:r>
              <a:rPr lang="en-US" err="1"/>
              <a:t>leo</a:t>
            </a:r>
            <a:r>
              <a:rPr lang="en-US"/>
              <a:t> in. Mi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tincidunt</a:t>
            </a:r>
            <a:endParaRPr lang="en-US"/>
          </a:p>
          <a:p>
            <a:pPr lvl="0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D516098-608D-4CF6-BB5A-CA8F57B7EB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1274763"/>
            <a:ext cx="3984625" cy="422275"/>
          </a:xfrm>
          <a:prstGeom prst="rect">
            <a:avLst/>
          </a:prstGeom>
        </p:spPr>
        <p:txBody>
          <a:bodyPr>
            <a:noAutofit/>
          </a:bodyPr>
          <a:lstStyle>
            <a:lvl1pPr marL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Subhead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30B0972-11A4-E31C-F69F-14DA3AC80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5966" y="6499582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FA57618-8A3F-4BF2-AF0B-76D53F4172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B3C0F3D-D1AE-4ABB-ABA6-4DDF6D23C2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300422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8B3C0F3D-D1AE-4ABB-ABA6-4DDF6D23C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8C09DFD-CA23-5C5B-4666-91458392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6441"/>
            <a:ext cx="11430000" cy="4431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Chart Placeholder 2">
            <a:extLst>
              <a:ext uri="{FF2B5EF4-FFF2-40B4-BE49-F238E27FC236}">
                <a16:creationId xmlns:a16="http://schemas.microsoft.com/office/drawing/2014/main" id="{C97C64B8-65E2-04ED-E5F7-8D09E9218AC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000" y="1382486"/>
            <a:ext cx="11430000" cy="4572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5CA687-D1FB-BDAB-CE94-B95D348B9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5966" y="6499582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FA57618-8A3F-4BF2-AF0B-76D53F4172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9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9085A16-3D1D-8FA2-8F14-FF3AF40CCB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3658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9085A16-3D1D-8FA2-8F14-FF3AF40CCB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D52F5300-AFFB-2DFE-EB9B-C37AC770B9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697684"/>
            <a:ext cx="5943600" cy="420624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A3E9A2-CED0-8630-C329-2B837CB44C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6000" y="-1"/>
            <a:ext cx="5256000" cy="6857999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7C8C70-8742-F540-986E-CDE72A824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5966" y="6499582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FA57618-8A3F-4BF2-AF0B-76D53F4172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0AC0102-07E4-2D1C-FA9C-8B6431D4D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6441"/>
            <a:ext cx="1143000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635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477203F-111A-E3DE-9CF7-B64AB14A12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3011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77203F-111A-E3DE-9CF7-B64AB14A12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8DF8CC6-3A58-5459-27BF-48AB726DE15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A1A9A9-5F8A-6F3B-F354-974694C42196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gradFill>
            <a:gsLst>
              <a:gs pos="0">
                <a:srgbClr val="FF5AA1"/>
              </a:gs>
              <a:gs pos="100000">
                <a:srgbClr val="BE216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D0CCD328-04D9-1CD7-213C-7D0FD037C96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56100" y="2882900"/>
            <a:ext cx="1562100" cy="1168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Content Placeholder 23">
            <a:extLst>
              <a:ext uri="{FF2B5EF4-FFF2-40B4-BE49-F238E27FC236}">
                <a16:creationId xmlns:a16="http://schemas.microsoft.com/office/drawing/2014/main" id="{779C6749-B62E-4E11-7242-355174F6632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6500" y="2882900"/>
            <a:ext cx="5232400" cy="1168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Divider</a:t>
            </a:r>
          </a:p>
        </p:txBody>
      </p:sp>
      <p:sp>
        <p:nvSpPr>
          <p:cNvPr id="26" name="Google Shape;204;p27">
            <a:extLst>
              <a:ext uri="{FF2B5EF4-FFF2-40B4-BE49-F238E27FC236}">
                <a16:creationId xmlns:a16="http://schemas.microsoft.com/office/drawing/2014/main" id="{DBE0C145-B1D5-EFCA-F1A7-8FC0D03B07F6}"/>
              </a:ext>
            </a:extLst>
          </p:cNvPr>
          <p:cNvSpPr/>
          <p:nvPr userDrawn="1"/>
        </p:nvSpPr>
        <p:spPr>
          <a:xfrm>
            <a:off x="4396664" y="4198900"/>
            <a:ext cx="1538073" cy="9900"/>
          </a:xfrm>
          <a:prstGeom prst="rect">
            <a:avLst/>
          </a:prstGeom>
          <a:gradFill>
            <a:gsLst>
              <a:gs pos="0">
                <a:srgbClr val="F0B157"/>
              </a:gs>
              <a:gs pos="100000">
                <a:srgbClr val="DA408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2" name="Google Shape;190;p26">
            <a:extLst>
              <a:ext uri="{FF2B5EF4-FFF2-40B4-BE49-F238E27FC236}">
                <a16:creationId xmlns:a16="http://schemas.microsoft.com/office/drawing/2014/main" id="{C1F79540-E008-5410-A5A3-178736E891A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1352" r="1352"/>
          <a:stretch/>
        </p:blipFill>
        <p:spPr>
          <a:xfrm>
            <a:off x="96822" y="1067553"/>
            <a:ext cx="3974148" cy="5833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40;p43">
            <a:extLst>
              <a:ext uri="{FF2B5EF4-FFF2-40B4-BE49-F238E27FC236}">
                <a16:creationId xmlns:a16="http://schemas.microsoft.com/office/drawing/2014/main" id="{36104B32-0FF8-4BFA-F070-0CED3DAC115F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513" y="353115"/>
            <a:ext cx="1489530" cy="630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816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317B6E8-2CAA-C5FF-74C1-236E8EF053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8984550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4" progId="TCLayout.ActiveDocument.1">
                  <p:embed/>
                </p:oleObj>
              </mc:Choice>
              <mc:Fallback>
                <p:oleObj name="think-cell Slide" r:id="rId12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17B6E8-2CAA-C5FF-74C1-236E8EF053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oogle Shape;340;p43">
            <a:extLst>
              <a:ext uri="{FF2B5EF4-FFF2-40B4-BE49-F238E27FC236}">
                <a16:creationId xmlns:a16="http://schemas.microsoft.com/office/drawing/2014/main" id="{7101E031-C041-F6B1-455D-405ECB848143}"/>
              </a:ext>
            </a:extLst>
          </p:cNvPr>
          <p:cNvPicPr preferRelativeResize="0"/>
          <p:nvPr userDrawn="1"/>
        </p:nvPicPr>
        <p:blipFill>
          <a:blip r:embed="rId14">
            <a:alphaModFix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6487527"/>
            <a:ext cx="668287" cy="282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53FE38-69FC-99D3-9F88-1B68EF60CBC7}"/>
              </a:ext>
            </a:extLst>
          </p:cNvPr>
          <p:cNvCxnSpPr>
            <a:cxnSpLocks/>
          </p:cNvCxnSpPr>
          <p:nvPr userDrawn="1"/>
        </p:nvCxnSpPr>
        <p:spPr>
          <a:xfrm>
            <a:off x="1445741" y="199640"/>
            <a:ext cx="10746259" cy="0"/>
          </a:xfrm>
          <a:prstGeom prst="line">
            <a:avLst/>
          </a:prstGeom>
          <a:ln w="6350">
            <a:gradFill flip="none" rotWithShape="1">
              <a:gsLst>
                <a:gs pos="0">
                  <a:schemeClr val="tx2"/>
                </a:gs>
                <a:gs pos="4900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07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accent2"/>
          </a:solidFill>
          <a:latin typeface="+mn-lt"/>
          <a:ea typeface="+mn-ea"/>
          <a:cs typeface="Segoe UI" panose="020B0502040204020203" pitchFamily="34" charset="0"/>
        </a:defRPr>
      </a:lvl1pPr>
      <a:lvl2pPr marL="274320" indent="-27432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2pPr>
      <a:lvl3pPr marL="548640" indent="-27432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Nunito Sans" panose="00000500000000000000" pitchFamily="2" charset="0"/>
        <a:buChar char="‒"/>
        <a:defRPr sz="1600" b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3pPr>
      <a:lvl4pPr marL="822960" indent="-27432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Inter" panose="020B0502030000000004" pitchFamily="34" charset="0"/>
        <a:buChar char="&gt;"/>
        <a:defRPr sz="1600" b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4pPr>
      <a:lvl5pPr marL="1097280" indent="-27432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boaz.adler@cytel.com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92EBB8C-F00E-31F5-6944-98E099CE61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2EBB8C-F00E-31F5-6944-98E099CE61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ubtitle 2">
            <a:extLst>
              <a:ext uri="{FF2B5EF4-FFF2-40B4-BE49-F238E27FC236}">
                <a16:creationId xmlns:a16="http://schemas.microsoft.com/office/drawing/2014/main" id="{0157B3EA-745A-6AEB-3737-3EC5FDA6C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3749665"/>
            <a:ext cx="7044060" cy="1170744"/>
          </a:xfrm>
        </p:spPr>
        <p:txBody>
          <a:bodyPr>
            <a:noAutofit/>
          </a:bodyPr>
          <a:lstStyle/>
          <a:p>
            <a:r>
              <a:rPr lang="en-US" sz="1800" dirty="0"/>
              <a:t>J. Kyle Wathen, PhD</a:t>
            </a:r>
          </a:p>
          <a:p>
            <a:r>
              <a:rPr lang="en-US" sz="1800" dirty="0"/>
              <a:t>VP Scientific Strategy and Product Innovation</a:t>
            </a:r>
          </a:p>
          <a:p>
            <a:r>
              <a:rPr lang="en-US" sz="1800" dirty="0"/>
              <a:t>Cytel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478EECB0-EB52-802F-D350-691D27237A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6400" y="6311900"/>
            <a:ext cx="2895600" cy="266700"/>
          </a:xfrm>
        </p:spPr>
        <p:txBody>
          <a:bodyPr/>
          <a:lstStyle/>
          <a:p>
            <a:r>
              <a:rPr lang="en-US" b="1" dirty="0"/>
              <a:t>Oct 2025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00C4915-CD09-D65F-5267-4A9CFE5A9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" y="1670890"/>
            <a:ext cx="10060953" cy="1437445"/>
          </a:xfrm>
        </p:spPr>
        <p:txBody>
          <a:bodyPr vert="horz"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Interim Decision Rules for Early Futility: A Comparative Assessment of Bayesian and Frequentist Approaches</a:t>
            </a:r>
            <a:endParaRPr lang="en-US" sz="30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8E395-7E0B-FA66-1F39-21718C0FE371}"/>
              </a:ext>
            </a:extLst>
          </p:cNvPr>
          <p:cNvSpPr txBox="1"/>
          <p:nvPr/>
        </p:nvSpPr>
        <p:spPr>
          <a:xfrm>
            <a:off x="1341912" y="4796789"/>
            <a:ext cx="8467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75"/>
              </a:spcBef>
              <a:spcAft>
                <a:spcPts val="788"/>
              </a:spcAft>
            </a:pPr>
            <a:r>
              <a:rPr lang="en-US" sz="2800" b="1" i="0" dirty="0">
                <a:solidFill>
                  <a:schemeClr val="tx2"/>
                </a:solidFill>
                <a:effectLst/>
              </a:rPr>
              <a:t>Bayes 2025, Leiden</a:t>
            </a:r>
          </a:p>
        </p:txBody>
      </p:sp>
    </p:spTree>
    <p:extLst>
      <p:ext uri="{BB962C8B-B14F-4D97-AF65-F5344CB8AC3E}">
        <p14:creationId xmlns:p14="http://schemas.microsoft.com/office/powerpoint/2010/main" val="13595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A655-F7BB-5C3A-9FA2-E58B50ED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9162-FFC3-16BC-FFA2-52CA1A7C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Motivations for the Proposed Talk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C4D3C74-1810-901D-3C10-09828917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3331"/>
            <a:ext cx="114300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i="0" u="none" strike="noStrike" dirty="0">
                <a:solidFill>
                  <a:schemeClr val="accent3"/>
                </a:solidFill>
                <a:effectLst/>
                <a:latin typeface="Segoe UI" panose="020B0502040204020203" pitchFamily="34" charset="0"/>
              </a:rPr>
              <a:t>Interim decision-making is an integral part of efficient clinical trial design</a:t>
            </a:r>
          </a:p>
          <a:p>
            <a:endParaRPr lang="en-US" sz="18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r>
              <a:rPr lang="en-US" sz="2400" b="0" i="0" u="none" strike="noStrike" dirty="0"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Its benefits include:</a:t>
            </a:r>
          </a:p>
          <a:p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The incorporation of current and previously observed trial data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The prediction of future outcomes based on Bayesian predictive probabilities compared to a frequentist approach which computes conditional power at the observed delta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Decision-making for trial conduct using informed priors or more advanced modeling approach, </a:t>
            </a:r>
            <a:r>
              <a:rPr lang="en-US" sz="2400" dirty="0" err="1">
                <a:solidFill>
                  <a:schemeClr val="tx2"/>
                </a:solidFill>
                <a:latin typeface="Segoe UI" panose="020B0502040204020203" pitchFamily="34" charset="0"/>
              </a:rPr>
              <a:t>eg</a:t>
            </a: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 Bayesian hierarchical model for the control data </a:t>
            </a:r>
          </a:p>
          <a:p>
            <a:pPr lvl="1" indent="0">
              <a:buNone/>
            </a:pP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Bayesian predictive probabilities can incorporate past, current, and potential future data</a:t>
            </a:r>
            <a:endParaRPr lang="en-US" sz="2400" dirty="0">
              <a:solidFill>
                <a:srgbClr val="002060"/>
              </a:solidFill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17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37B5-2620-E2A8-8F4F-AB116FD0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F87A-6E89-37A5-D492-26F39E86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6441"/>
            <a:ext cx="11430000" cy="886397"/>
          </a:xfrm>
        </p:spPr>
        <p:txBody>
          <a:bodyPr/>
          <a:lstStyle/>
          <a:p>
            <a:r>
              <a:rPr lang="en-US" i="0" u="none" strike="noStrike" dirty="0">
                <a:solidFill>
                  <a:schemeClr val="tx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Options for Futility Decision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C1E087D-AB7E-3C43-EC7D-188FBA4CA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2068" y="1581584"/>
            <a:ext cx="7528932" cy="914400"/>
          </a:xfrm>
        </p:spPr>
        <p:txBody>
          <a:bodyPr anchor="ctr"/>
          <a:lstStyle/>
          <a:p>
            <a:r>
              <a:rPr lang="en-US" dirty="0">
                <a:solidFill>
                  <a:schemeClr val="accent3"/>
                </a:solidFill>
              </a:rPr>
              <a:t>Conditional power thresholds based on Observed Difference – Native in East Horizon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9A35A87-15C9-F458-E031-3305682D4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82068" y="2675337"/>
            <a:ext cx="7528932" cy="914400"/>
          </a:xfrm>
        </p:spPr>
        <p:txBody>
          <a:bodyPr anchor="ctr"/>
          <a:lstStyle/>
          <a:p>
            <a:r>
              <a:rPr lang="en-US" dirty="0">
                <a:solidFill>
                  <a:schemeClr val="accent3"/>
                </a:solidFill>
              </a:rPr>
              <a:t>Incorporating prior data directly into the prior, weighted – Requires R integration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200DEB5-DCE6-3377-F553-E9ADB592916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82068" y="3769090"/>
            <a:ext cx="7528932" cy="914400"/>
          </a:xfrm>
        </p:spPr>
        <p:txBody>
          <a:bodyPr anchor="ctr"/>
          <a:lstStyle/>
          <a:p>
            <a:r>
              <a:rPr lang="en-US" dirty="0">
                <a:solidFill>
                  <a:schemeClr val="accent3"/>
                </a:solidFill>
              </a:rPr>
              <a:t>Bayesian Hierarchical model for the response rate on control to include data for previous trials – Requires R Integration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780CC24-397A-BFEB-02E3-FBE6AD7A26AE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282068" y="4862844"/>
            <a:ext cx="7528932" cy="914400"/>
          </a:xfrm>
        </p:spPr>
        <p:txBody>
          <a:bodyPr anchor="ctr"/>
          <a:lstStyle/>
          <a:p>
            <a:r>
              <a:rPr lang="en-US" dirty="0">
                <a:solidFill>
                  <a:schemeClr val="accent3"/>
                </a:solidFill>
              </a:rPr>
              <a:t>If the observed difference is small, then stop for futility – Native to East Horizon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8C1535-378E-C09D-1565-5DABFDA9110E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4862844"/>
            <a:ext cx="3220844" cy="914400"/>
          </a:xfrm>
        </p:spPr>
        <p:txBody>
          <a:bodyPr/>
          <a:lstStyle/>
          <a:p>
            <a:r>
              <a:rPr lang="en-US" dirty="0"/>
              <a:t>Difference in Observed Rates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86C5A-C596-D763-FE67-728A08BAC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81584"/>
            <a:ext cx="3220844" cy="914400"/>
          </a:xfrm>
        </p:spPr>
        <p:txBody>
          <a:bodyPr/>
          <a:lstStyle/>
          <a:p>
            <a:r>
              <a:rPr lang="en-US" dirty="0"/>
              <a:t>Frequentist Conditional Power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7F41C4-1D6B-1ABC-EA5F-9E6F02835C7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81000" y="2675338"/>
            <a:ext cx="3220844" cy="914400"/>
          </a:xfrm>
        </p:spPr>
        <p:txBody>
          <a:bodyPr/>
          <a:lstStyle/>
          <a:p>
            <a:r>
              <a:rPr lang="en-US" dirty="0"/>
              <a:t>Bayesian Predictive Probabilities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10FAB0-9D2D-E7D9-C6C5-1126BC4F512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81000" y="3769092"/>
            <a:ext cx="3220844" cy="914400"/>
          </a:xfrm>
        </p:spPr>
        <p:txBody>
          <a:bodyPr/>
          <a:lstStyle/>
          <a:p>
            <a:r>
              <a:rPr lang="en-US" dirty="0"/>
              <a:t>Bayesian Predictive Probabilities</a:t>
            </a:r>
          </a:p>
        </p:txBody>
      </p:sp>
    </p:spTree>
    <p:extLst>
      <p:ext uri="{BB962C8B-B14F-4D97-AF65-F5344CB8AC3E}">
        <p14:creationId xmlns:p14="http://schemas.microsoft.com/office/powerpoint/2010/main" val="381172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build="p"/>
      <p:bldP spid="14" grpId="0" build="p"/>
      <p:bldP spid="9" grpId="0" build="p"/>
      <p:bldP spid="10" grpId="0" build="p"/>
      <p:bldP spid="1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9EA6B1-3354-89FB-2BC3-4136C546847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711653" y="1787631"/>
            <a:ext cx="4099347" cy="3423733"/>
          </a:xfrm>
          <a:solidFill>
            <a:schemeClr val="accent3"/>
          </a:solidFill>
        </p:spPr>
        <p:txBody>
          <a:bodyPr/>
          <a:lstStyle/>
          <a:p>
            <a:r>
              <a:rPr lang="en-US" sz="2000" b="1">
                <a:solidFill>
                  <a:schemeClr val="tx2"/>
                </a:solidFill>
              </a:rPr>
              <a:t>Start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chemeClr val="accent1"/>
              </a:solidFill>
            </a:endParaRPr>
          </a:p>
          <a:p>
            <a:r>
              <a:rPr lang="en-US" sz="2000">
                <a:solidFill>
                  <a:schemeClr val="accent1"/>
                </a:solidFill>
              </a:rPr>
              <a:t>A group sequential design as a point of comparison for adaptive features and analysis options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927BC-A208-58C3-10E7-A9039B2F08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9" y="1274763"/>
            <a:ext cx="6867526" cy="42227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Standard Frequentist Design Parameters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3635AD23-FF72-12C9-39A8-C351905B670A}"/>
              </a:ext>
            </a:extLst>
          </p:cNvPr>
          <p:cNvSpPr txBox="1">
            <a:spLocks/>
          </p:cNvSpPr>
          <p:nvPr/>
        </p:nvSpPr>
        <p:spPr>
          <a:xfrm>
            <a:off x="380999" y="564670"/>
            <a:ext cx="11430000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Oncology Case Study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37115D-B389-B5AE-76AD-7F77A8D6F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93876"/>
              </p:ext>
            </p:extLst>
          </p:nvPr>
        </p:nvGraphicFramePr>
        <p:xfrm>
          <a:off x="380999" y="1787631"/>
          <a:ext cx="7108372" cy="336300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878485">
                  <a:extLst>
                    <a:ext uri="{9D8B030D-6E8A-4147-A177-3AD203B41FA5}">
                      <a16:colId xmlns:a16="http://schemas.microsoft.com/office/drawing/2014/main" val="3647638585"/>
                    </a:ext>
                  </a:extLst>
                </a:gridCol>
                <a:gridCol w="3229887">
                  <a:extLst>
                    <a:ext uri="{9D8B030D-6E8A-4147-A177-3AD203B41FA5}">
                      <a16:colId xmlns:a16="http://schemas.microsoft.com/office/drawing/2014/main" val="2334090805"/>
                    </a:ext>
                  </a:extLst>
                </a:gridCol>
              </a:tblGrid>
              <a:tr h="3245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Design Parameter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928677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Endpoint Type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Binary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2366743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Sample Size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210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0373192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1-sided Type 1 Error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0.025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79325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Target Power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90%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1921065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Number of Interim Analyses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>
                          <a:solidFill>
                            <a:schemeClr val="tx2"/>
                          </a:solidFill>
                          <a:effectLst/>
                        </a:rPr>
                        <a:t>1 at 50% Information Fraction (IF)</a:t>
                      </a:r>
                      <a:endParaRPr lang="en-US" sz="1600" b="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95569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Efficacy Boundary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>
                          <a:solidFill>
                            <a:schemeClr val="tx2"/>
                          </a:solidFill>
                          <a:effectLst/>
                        </a:rPr>
                        <a:t>Lan-DeMets (OBF)</a:t>
                      </a:r>
                      <a:endParaRPr lang="en-US" sz="1600" b="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300825"/>
                  </a:ext>
                </a:extLst>
              </a:tr>
              <a:tr h="3245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bg1"/>
                          </a:solidFill>
                          <a:effectLst/>
                        </a:rPr>
                        <a:t>Scenario Parameter</a:t>
                      </a:r>
                      <a:endParaRPr lang="en-US" sz="1600" b="1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b="1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5561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Response Proportion for Control Arm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0.20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676446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Response Proportion for Treatment Arm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0.40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6535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637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DFFA-29B6-F03F-1B67-962870DE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F0EE0D-609E-07A4-72A4-9F18F03FA2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711653" y="1787631"/>
            <a:ext cx="4099347" cy="3423733"/>
          </a:xfrm>
          <a:solidFill>
            <a:schemeClr val="accent3"/>
          </a:solidFill>
        </p:spPr>
        <p:txBody>
          <a:bodyPr/>
          <a:lstStyle/>
          <a:p>
            <a:r>
              <a:rPr lang="en-US" sz="2000" b="1" dirty="0">
                <a:solidFill>
                  <a:schemeClr val="tx2"/>
                </a:solidFill>
              </a:rPr>
              <a:t>Adding Additional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Sample Sizes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Information Fraction</a:t>
            </a:r>
          </a:p>
          <a:p>
            <a:r>
              <a:rPr lang="en-US" dirty="0">
                <a:solidFill>
                  <a:schemeClr val="accent1"/>
                </a:solidFill>
              </a:rPr>
              <a:t>Futility: Conditional Power</a:t>
            </a:r>
            <a:endParaRPr lang="en-US" sz="2000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Explore Trade-offs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3BE9B-2A78-0DAC-2478-492A0E41D4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8" y="1274763"/>
            <a:ext cx="7108371" cy="42227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Standard Frequentist Design Parameters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E3CFF5C1-323E-57B0-01B4-73828AD197DA}"/>
              </a:ext>
            </a:extLst>
          </p:cNvPr>
          <p:cNvSpPr txBox="1">
            <a:spLocks/>
          </p:cNvSpPr>
          <p:nvPr/>
        </p:nvSpPr>
        <p:spPr>
          <a:xfrm>
            <a:off x="380999" y="564670"/>
            <a:ext cx="11430000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Oncology Case Study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21E0DF-2762-9124-FEFA-38432E8A7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00821"/>
              </p:ext>
            </p:extLst>
          </p:nvPr>
        </p:nvGraphicFramePr>
        <p:xfrm>
          <a:off x="380999" y="1787631"/>
          <a:ext cx="7108372" cy="336300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878485">
                  <a:extLst>
                    <a:ext uri="{9D8B030D-6E8A-4147-A177-3AD203B41FA5}">
                      <a16:colId xmlns:a16="http://schemas.microsoft.com/office/drawing/2014/main" val="3647638585"/>
                    </a:ext>
                  </a:extLst>
                </a:gridCol>
                <a:gridCol w="3229887">
                  <a:extLst>
                    <a:ext uri="{9D8B030D-6E8A-4147-A177-3AD203B41FA5}">
                      <a16:colId xmlns:a16="http://schemas.microsoft.com/office/drawing/2014/main" val="2334090805"/>
                    </a:ext>
                  </a:extLst>
                </a:gridCol>
              </a:tblGrid>
              <a:tr h="3245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Design Parameter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928677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Endpoint Type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Binary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2366743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Sample Size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210</a:t>
                      </a:r>
                      <a:r>
                        <a:rPr lang="en-US" sz="1600" b="1" kern="100" dirty="0">
                          <a:solidFill>
                            <a:srgbClr val="FFC000"/>
                          </a:solidFill>
                          <a:effectLst/>
                        </a:rPr>
                        <a:t>, 250, 290, 310</a:t>
                      </a:r>
                      <a:endParaRPr lang="en-US" sz="1600" b="1" kern="100" dirty="0">
                        <a:solidFill>
                          <a:srgbClr val="FFC000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0373192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1-sided Type 1 Error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0.025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79325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Number of Interim Analyses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1 at </a:t>
                      </a:r>
                      <a:r>
                        <a:rPr lang="en-US" sz="1600" b="1" kern="100" dirty="0">
                          <a:solidFill>
                            <a:schemeClr val="accent3"/>
                          </a:solidFill>
                          <a:effectLst/>
                        </a:rPr>
                        <a:t>40%, </a:t>
                      </a: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50%,</a:t>
                      </a:r>
                      <a:r>
                        <a:rPr lang="en-US" sz="1600" b="1" kern="100" dirty="0">
                          <a:solidFill>
                            <a:schemeClr val="accent3"/>
                          </a:solidFill>
                          <a:effectLst/>
                        </a:rPr>
                        <a:t> 60 </a:t>
                      </a: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IF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95569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Efficacy Boundary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>
                          <a:solidFill>
                            <a:schemeClr val="tx2"/>
                          </a:solidFill>
                          <a:effectLst/>
                        </a:rPr>
                        <a:t>Lan-DeMets (OBF)</a:t>
                      </a:r>
                      <a:endParaRPr lang="en-US" sz="1600" b="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300825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Futility based on conditional power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1" kern="1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0.1, 0.01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018117"/>
                  </a:ext>
                </a:extLst>
              </a:tr>
              <a:tr h="3245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bg1"/>
                          </a:solidFill>
                          <a:effectLst/>
                        </a:rPr>
                        <a:t>Scenario Parameter</a:t>
                      </a:r>
                      <a:endParaRPr lang="en-US" sz="1600" b="1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5561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Response Proportion for Control Arm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0.20 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676446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Response Proportion for Treatment Arm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0.40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65353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48A9D5-B56E-13F6-A6C3-C54BDC5F1BEF}"/>
              </a:ext>
            </a:extLst>
          </p:cNvPr>
          <p:cNvSpPr txBox="1"/>
          <p:nvPr/>
        </p:nvSpPr>
        <p:spPr>
          <a:xfrm>
            <a:off x="3393311" y="6098393"/>
            <a:ext cx="540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accent3"/>
                </a:solidFill>
                <a:cs typeface="Arial" panose="020B0604020202020204" pitchFamily="34" charset="0"/>
              </a:rPr>
              <a:t>= 24 designs added to the simulation</a:t>
            </a:r>
          </a:p>
        </p:txBody>
      </p:sp>
    </p:spTree>
    <p:extLst>
      <p:ext uri="{BB962C8B-B14F-4D97-AF65-F5344CB8AC3E}">
        <p14:creationId xmlns:p14="http://schemas.microsoft.com/office/powerpoint/2010/main" val="290850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5692-7C23-1ACA-5A92-94E20F9A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9E8D52-91B6-DB95-E0AE-405A773C0F8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711653" y="1787631"/>
            <a:ext cx="4099347" cy="3423733"/>
          </a:xfrm>
          <a:solidFill>
            <a:schemeClr val="accent3"/>
          </a:solidFill>
        </p:spPr>
        <p:txBody>
          <a:bodyPr/>
          <a:lstStyle/>
          <a:p>
            <a:r>
              <a:rPr lang="en-US" sz="2000" b="1" dirty="0">
                <a:solidFill>
                  <a:schemeClr val="tx2"/>
                </a:solidFill>
              </a:rPr>
              <a:t>Adding Additional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Sample Sizes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Information Fraction</a:t>
            </a:r>
          </a:p>
          <a:p>
            <a:r>
              <a:rPr lang="en-US" b="1" dirty="0">
                <a:solidFill>
                  <a:schemeClr val="accent1"/>
                </a:solidFill>
              </a:rPr>
              <a:t>Futility: Observed Delta</a:t>
            </a:r>
            <a:endParaRPr lang="en-US" sz="2000" b="1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Explore Trade-offs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7CD91-BC4F-30C3-B094-F37BD84404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9" y="1274763"/>
            <a:ext cx="6810376" cy="42227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Standard Frequentist Design Parameters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087BE51D-A0BC-8665-E393-1B9D982B2A51}"/>
              </a:ext>
            </a:extLst>
          </p:cNvPr>
          <p:cNvSpPr txBox="1">
            <a:spLocks/>
          </p:cNvSpPr>
          <p:nvPr/>
        </p:nvSpPr>
        <p:spPr>
          <a:xfrm>
            <a:off x="380999" y="564670"/>
            <a:ext cx="11430000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Oncology Case Study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4A68D6-4FFE-D4CA-4FAA-D47F2BA58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941795"/>
              </p:ext>
            </p:extLst>
          </p:nvPr>
        </p:nvGraphicFramePr>
        <p:xfrm>
          <a:off x="380999" y="1787631"/>
          <a:ext cx="7108372" cy="336300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878485">
                  <a:extLst>
                    <a:ext uri="{9D8B030D-6E8A-4147-A177-3AD203B41FA5}">
                      <a16:colId xmlns:a16="http://schemas.microsoft.com/office/drawing/2014/main" val="3647638585"/>
                    </a:ext>
                  </a:extLst>
                </a:gridCol>
                <a:gridCol w="3229887">
                  <a:extLst>
                    <a:ext uri="{9D8B030D-6E8A-4147-A177-3AD203B41FA5}">
                      <a16:colId xmlns:a16="http://schemas.microsoft.com/office/drawing/2014/main" val="2334090805"/>
                    </a:ext>
                  </a:extLst>
                </a:gridCol>
              </a:tblGrid>
              <a:tr h="3245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Design Parameter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928677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Endpoint Type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Binary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2366743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Sample Size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210</a:t>
                      </a:r>
                      <a:r>
                        <a:rPr lang="en-US" sz="1600" b="1" kern="100" dirty="0">
                          <a:solidFill>
                            <a:srgbClr val="FFC000"/>
                          </a:solidFill>
                          <a:effectLst/>
                        </a:rPr>
                        <a:t>, 250, 290, 310</a:t>
                      </a:r>
                      <a:endParaRPr lang="en-US" sz="1600" b="1" kern="100" dirty="0">
                        <a:solidFill>
                          <a:srgbClr val="FFC000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0373192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1-sided Type 1 Error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0.025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79325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Number of Interim Analyses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1 at </a:t>
                      </a:r>
                      <a:r>
                        <a:rPr lang="en-US" sz="1600" b="1" kern="100" dirty="0">
                          <a:solidFill>
                            <a:schemeClr val="accent3"/>
                          </a:solidFill>
                          <a:effectLst/>
                        </a:rPr>
                        <a:t>40%, </a:t>
                      </a: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50%,</a:t>
                      </a:r>
                      <a:r>
                        <a:rPr lang="en-US" sz="1600" b="1" kern="100" dirty="0">
                          <a:solidFill>
                            <a:schemeClr val="accent3"/>
                          </a:solidFill>
                          <a:effectLst/>
                        </a:rPr>
                        <a:t> 60 </a:t>
                      </a: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IF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95569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Efficacy Boundary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>
                          <a:solidFill>
                            <a:schemeClr val="tx2"/>
                          </a:solidFill>
                          <a:effectLst/>
                        </a:rPr>
                        <a:t>Lan-DeMets (OBF)</a:t>
                      </a:r>
                      <a:endParaRPr lang="en-US" sz="1600" b="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300825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Futility based on observed delta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0.01, 0.05, 0.1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018117"/>
                  </a:ext>
                </a:extLst>
              </a:tr>
              <a:tr h="3245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bg1"/>
                          </a:solidFill>
                          <a:effectLst/>
                        </a:rPr>
                        <a:t>Scenario Parameter</a:t>
                      </a:r>
                      <a:endParaRPr lang="en-US" sz="1600" b="1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b="1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5561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Response Proportion for Control Arm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0.20 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676446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Response Proportion for Treatment Arm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0.40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65353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97E431D-B26F-8D08-07A8-5FAFB00290E0}"/>
              </a:ext>
            </a:extLst>
          </p:cNvPr>
          <p:cNvSpPr txBox="1"/>
          <p:nvPr/>
        </p:nvSpPr>
        <p:spPr>
          <a:xfrm>
            <a:off x="3393311" y="6098393"/>
            <a:ext cx="540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accent3"/>
                </a:solidFill>
                <a:cs typeface="Arial" panose="020B0604020202020204" pitchFamily="34" charset="0"/>
              </a:rPr>
              <a:t>= 36 designs added to the simulation</a:t>
            </a:r>
          </a:p>
        </p:txBody>
      </p:sp>
    </p:spTree>
    <p:extLst>
      <p:ext uri="{BB962C8B-B14F-4D97-AF65-F5344CB8AC3E}">
        <p14:creationId xmlns:p14="http://schemas.microsoft.com/office/powerpoint/2010/main" val="301975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F661-1027-7B58-7544-A62D2FA9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60CFC2-674E-E581-3A25-85E6F9CE39A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711652" y="1436739"/>
            <a:ext cx="4099347" cy="3423733"/>
          </a:xfrm>
          <a:solidFill>
            <a:schemeClr val="accent3"/>
          </a:solidFill>
        </p:spPr>
        <p:txBody>
          <a:bodyPr/>
          <a:lstStyle/>
          <a:p>
            <a:r>
              <a:rPr lang="en-US" sz="2000" b="1" dirty="0">
                <a:solidFill>
                  <a:schemeClr val="tx2"/>
                </a:solidFill>
              </a:rPr>
              <a:t>Best Approach to Include?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Beta </a:t>
            </a:r>
            <a:r>
              <a:rPr lang="en-US" sz="2000" dirty="0" err="1">
                <a:solidFill>
                  <a:schemeClr val="accent1"/>
                </a:solidFill>
              </a:rPr>
              <a:t>Binom</a:t>
            </a:r>
            <a:r>
              <a:rPr lang="en-US" sz="2000" dirty="0">
                <a:solidFill>
                  <a:schemeClr val="accent1"/>
                </a:solidFill>
              </a:rPr>
              <a:t> – </a:t>
            </a:r>
            <a:r>
              <a:rPr lang="en-US" dirty="0">
                <a:solidFill>
                  <a:schemeClr val="accent1"/>
                </a:solidFill>
              </a:rPr>
              <a:t>P</a:t>
            </a:r>
            <a:r>
              <a:rPr lang="en-US" sz="2000" dirty="0">
                <a:solidFill>
                  <a:schemeClr val="accent1"/>
                </a:solidFill>
              </a:rPr>
              <a:t>rior mean equal 20%, Sample size of1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Beta </a:t>
            </a:r>
            <a:r>
              <a:rPr lang="en-US" sz="2000" dirty="0" err="1">
                <a:solidFill>
                  <a:schemeClr val="accent1"/>
                </a:solidFill>
              </a:rPr>
              <a:t>Binom</a:t>
            </a:r>
            <a:r>
              <a:rPr lang="en-US" sz="2000" dirty="0">
                <a:solidFill>
                  <a:schemeClr val="accent1"/>
                </a:solidFill>
              </a:rPr>
              <a:t> – Prior mean equal to 20%, Sample size to 616 (50%), 1231 (100%)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Hierarchical Bayesian Model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2A14C47A-03B7-8747-79AD-B90333DF8EFC}"/>
              </a:ext>
            </a:extLst>
          </p:cNvPr>
          <p:cNvSpPr txBox="1">
            <a:spLocks/>
          </p:cNvSpPr>
          <p:nvPr/>
        </p:nvSpPr>
        <p:spPr>
          <a:xfrm>
            <a:off x="380999" y="564670"/>
            <a:ext cx="11430000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 Study Data on Control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A3905D-5410-A230-D0E7-B21F07B13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48566"/>
              </p:ext>
            </p:extLst>
          </p:nvPr>
        </p:nvGraphicFramePr>
        <p:xfrm>
          <a:off x="1422431" y="1436739"/>
          <a:ext cx="5778469" cy="412551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82669">
                  <a:extLst>
                    <a:ext uri="{9D8B030D-6E8A-4147-A177-3AD203B41FA5}">
                      <a16:colId xmlns:a16="http://schemas.microsoft.com/office/drawing/2014/main" val="3751287428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3647638585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334090805"/>
                    </a:ext>
                  </a:extLst>
                </a:gridCol>
              </a:tblGrid>
              <a:tr h="3303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Sample Size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Number of Responses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9286774"/>
                  </a:ext>
                </a:extLst>
              </a:tr>
              <a:tr h="345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23667434"/>
                  </a:ext>
                </a:extLst>
              </a:tr>
              <a:tr h="345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154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0373192"/>
                  </a:ext>
                </a:extLst>
              </a:tr>
              <a:tr h="345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164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7932533"/>
                  </a:ext>
                </a:extLst>
              </a:tr>
              <a:tr h="345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9556933"/>
                  </a:ext>
                </a:extLst>
              </a:tr>
              <a:tr h="345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143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300825"/>
                  </a:ext>
                </a:extLst>
              </a:tr>
              <a:tr h="345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215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018117"/>
                  </a:ext>
                </a:extLst>
              </a:tr>
              <a:tr h="3443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6764460"/>
                  </a:ext>
                </a:extLst>
              </a:tr>
              <a:tr h="3443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6535344"/>
                  </a:ext>
                </a:extLst>
              </a:tr>
              <a:tr h="3443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129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37438628"/>
                  </a:ext>
                </a:extLst>
              </a:tr>
              <a:tr h="3443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7318979"/>
                  </a:ext>
                </a:extLst>
              </a:tr>
              <a:tr h="3443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1231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93912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2A6AA4-542F-3E6E-B666-B6915A0B10CF}"/>
              </a:ext>
            </a:extLst>
          </p:cNvPr>
          <p:cNvSpPr txBox="1"/>
          <p:nvPr/>
        </p:nvSpPr>
        <p:spPr>
          <a:xfrm>
            <a:off x="1069211" y="6108664"/>
            <a:ext cx="540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accent3"/>
                </a:solidFill>
                <a:cs typeface="Arial" panose="020B0604020202020204" pitchFamily="34" charset="0"/>
              </a:rPr>
              <a:t>Overall Response Rate: 20.3%</a:t>
            </a:r>
          </a:p>
        </p:txBody>
      </p:sp>
    </p:spTree>
    <p:extLst>
      <p:ext uri="{BB962C8B-B14F-4D97-AF65-F5344CB8AC3E}">
        <p14:creationId xmlns:p14="http://schemas.microsoft.com/office/powerpoint/2010/main" val="98691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4A8D75-E0B3-2D06-707F-CE4726D4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Include External/Historical Data in Prediction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864EF0-B365-C96B-9369-640941DAA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57698"/>
            <a:ext cx="11430000" cy="4351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External data available that is available at the interim may be utilized to make the futility decision, aka “Totality of the data”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Variety of methods for inclusion of external data or historical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not include this in the simulation when conducting the prediction?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Inclusion of previous data in analysis is beyond the scope of the presentation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74A63-809E-598E-97F5-8D0BA4ED8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6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6EAF-C129-924A-623A-C4A96004B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8F2B-22B7-E867-48AB-9BC7C6A2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Model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55D6CE-D58A-7389-53A1-6807ABC7E7F1}"/>
              </a:ext>
            </a:extLst>
          </p:cNvPr>
          <p:cNvSpPr txBox="1">
            <a:spLocks/>
          </p:cNvSpPr>
          <p:nvPr/>
        </p:nvSpPr>
        <p:spPr>
          <a:xfrm>
            <a:off x="471487" y="1042099"/>
            <a:ext cx="11339513" cy="5627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Nunito Sans" panose="00000500000000000000" pitchFamily="2" charset="0"/>
              <a:buChar char="‒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Inter" panose="020B0502030000000004" pitchFamily="34" charset="0"/>
              <a:buChar char="&gt;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-339725">
              <a:buFont typeface="Nunito Sans" panose="00000500000000000000" pitchFamily="2" charset="0"/>
              <a:buNone/>
            </a:pPr>
            <a:r>
              <a:rPr lang="en-US" sz="2400" dirty="0">
                <a:solidFill>
                  <a:schemeClr val="tx2"/>
                </a:solidFill>
              </a:rPr>
              <a:t>For simplicity assume a conjugate model </a:t>
            </a:r>
          </a:p>
          <a:p>
            <a:pPr marL="914400" lvl="2" indent="-339725">
              <a:buFont typeface="Nunito Sans" panose="00000500000000000000" pitchFamily="2" charset="0"/>
              <a:buNone/>
            </a:pPr>
            <a:r>
              <a:rPr lang="en-US" sz="2400" dirty="0">
                <a:solidFill>
                  <a:schemeClr val="tx2"/>
                </a:solidFill>
              </a:rPr>
              <a:t>X ~ Binary( </a:t>
            </a:r>
            <a:r>
              <a:rPr lang="en-US" sz="24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) for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= C (Control) or E (Experimental)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sz="1200" dirty="0">
              <a:solidFill>
                <a:schemeClr val="tx2"/>
              </a:solidFill>
              <a:latin typeface="Symbol" panose="05050102010706020507" pitchFamily="18" charset="2"/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chemeClr val="tx2"/>
                </a:solidFill>
              </a:rPr>
              <a:t>Analysis Priors</a:t>
            </a:r>
            <a:endParaRPr lang="en-US" sz="2400" b="1" dirty="0">
              <a:solidFill>
                <a:schemeClr val="tx2"/>
              </a:solidFill>
              <a:latin typeface="Symbol" panose="05050102010706020507" pitchFamily="18" charset="2"/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>
                <a:solidFill>
                  <a:schemeClr val="tx2"/>
                </a:solidFill>
                <a:latin typeface="+mj-lt"/>
              </a:rPr>
              <a:t>c</a:t>
            </a:r>
            <a:r>
              <a:rPr lang="en-US" sz="2400" baseline="-250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 ~ Beta( 0.20, 0.80 )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dirty="0" err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 err="1">
                <a:solidFill>
                  <a:schemeClr val="tx2"/>
                </a:solidFill>
                <a:latin typeface="+mj-lt"/>
              </a:rPr>
              <a:t>E</a:t>
            </a:r>
            <a:r>
              <a:rPr lang="en-US" sz="2400" baseline="-250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 ~ Beta( 0.20, 0.80 )  Assume prior response rate is same C/E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sz="1200" b="1" dirty="0">
              <a:solidFill>
                <a:schemeClr val="tx2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chemeClr val="tx2"/>
                </a:solidFill>
              </a:rPr>
              <a:t>Decision Criteria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2"/>
                </a:solidFill>
              </a:rPr>
              <a:t>Efficacy: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p = </a:t>
            </a:r>
            <a:r>
              <a:rPr lang="en-US" sz="2400" dirty="0" err="1">
                <a:solidFill>
                  <a:schemeClr val="tx2"/>
                </a:solidFill>
              </a:rPr>
              <a:t>Pr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 err="1">
                <a:solidFill>
                  <a:schemeClr val="tx2"/>
                </a:solidFill>
                <a:latin typeface="+mj-lt"/>
              </a:rPr>
              <a:t>E</a:t>
            </a:r>
            <a:r>
              <a:rPr lang="en-US" sz="2400" baseline="-25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&gt;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>
                <a:solidFill>
                  <a:schemeClr val="tx2"/>
                </a:solidFill>
                <a:latin typeface="+mj-lt"/>
              </a:rPr>
              <a:t>c </a:t>
            </a:r>
            <a:r>
              <a:rPr lang="en-US" sz="2400" dirty="0">
                <a:solidFill>
                  <a:schemeClr val="tx2"/>
                </a:solidFill>
              </a:rPr>
              <a:t>| data ) &gt; P</a:t>
            </a:r>
            <a:r>
              <a:rPr lang="en-US" sz="2400" baseline="-25000" dirty="0">
                <a:solidFill>
                  <a:schemeClr val="tx2"/>
                </a:solidFill>
              </a:rPr>
              <a:t>U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 E is better than C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Futility: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	Pred Prob{ [</a:t>
            </a:r>
            <a:r>
              <a:rPr lang="en-US" sz="2400" dirty="0" err="1">
                <a:solidFill>
                  <a:schemeClr val="tx2"/>
                </a:solidFill>
              </a:rPr>
              <a:t>Pr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 err="1">
                <a:solidFill>
                  <a:schemeClr val="tx2"/>
                </a:solidFill>
              </a:rPr>
              <a:t>E</a:t>
            </a:r>
            <a:r>
              <a:rPr lang="en-US" sz="2400" baseline="-250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&gt; </a:t>
            </a:r>
            <a:r>
              <a:rPr lang="en-US" sz="24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>
                <a:solidFill>
                  <a:schemeClr val="tx2"/>
                </a:solidFill>
              </a:rPr>
              <a:t>c </a:t>
            </a:r>
            <a:r>
              <a:rPr lang="en-US" sz="2400" dirty="0">
                <a:solidFill>
                  <a:schemeClr val="tx2"/>
                </a:solidFill>
              </a:rPr>
              <a:t>| data at final ) &gt; </a:t>
            </a:r>
            <a:r>
              <a:rPr lang="en-US" sz="2400" dirty="0" err="1">
                <a:solidFill>
                  <a:schemeClr val="tx2"/>
                </a:solidFill>
              </a:rPr>
              <a:t>P</a:t>
            </a:r>
            <a:r>
              <a:rPr lang="en-US" sz="2400" baseline="-25000" dirty="0" err="1">
                <a:solidFill>
                  <a:schemeClr val="tx2"/>
                </a:solidFill>
              </a:rPr>
              <a:t>UFinal</a:t>
            </a:r>
            <a:r>
              <a:rPr lang="en-US" sz="2400" dirty="0">
                <a:solidFill>
                  <a:schemeClr val="tx2"/>
                </a:solidFill>
              </a:rPr>
              <a:t>] | data at Interim } &lt; PL  </a:t>
            </a: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</a:t>
            </a:r>
            <a:r>
              <a:rPr lang="en-US" sz="1800" b="1" dirty="0">
                <a:solidFill>
                  <a:schemeClr val="tx2"/>
                </a:solidFill>
              </a:rPr>
              <a:t>Prior 1:</a:t>
            </a:r>
            <a:r>
              <a:rPr lang="en-US" sz="1800" dirty="0">
                <a:solidFill>
                  <a:schemeClr val="tx2"/>
                </a:solidFill>
              </a:rPr>
              <a:t> Non-informative </a:t>
            </a:r>
            <a:r>
              <a:rPr lang="en-US" sz="18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1800" baseline="-25000" dirty="0">
                <a:solidFill>
                  <a:schemeClr val="tx2"/>
                </a:solidFill>
              </a:rPr>
              <a:t>c </a:t>
            </a:r>
            <a:r>
              <a:rPr lang="en-US" sz="1800" dirty="0">
                <a:solidFill>
                  <a:schemeClr val="tx2"/>
                </a:solidFill>
              </a:rPr>
              <a:t> ~ Beta( 0.20, 0.80 )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</a:t>
            </a:r>
            <a:r>
              <a:rPr lang="en-US" sz="1800" b="1" dirty="0">
                <a:solidFill>
                  <a:schemeClr val="tx2"/>
                </a:solidFill>
              </a:rPr>
              <a:t>Prior 2:</a:t>
            </a:r>
            <a:r>
              <a:rPr lang="en-US" sz="1800" dirty="0">
                <a:solidFill>
                  <a:schemeClr val="tx2"/>
                </a:solidFill>
              </a:rPr>
              <a:t> 50%</a:t>
            </a:r>
            <a:r>
              <a:rPr lang="en-US" sz="1800" b="1" dirty="0">
                <a:solidFill>
                  <a:schemeClr val="tx2"/>
                </a:solidFill>
              </a:rPr>
              <a:t>, </a:t>
            </a:r>
            <a:r>
              <a:rPr lang="en-US" sz="18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1800" baseline="-25000" dirty="0">
                <a:solidFill>
                  <a:schemeClr val="tx2"/>
                </a:solidFill>
              </a:rPr>
              <a:t>c </a:t>
            </a:r>
            <a:r>
              <a:rPr lang="en-US" sz="1800" dirty="0">
                <a:solidFill>
                  <a:schemeClr val="tx2"/>
                </a:solidFill>
              </a:rPr>
              <a:t> ~ Beta( 126, 490 )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</a:t>
            </a:r>
            <a:r>
              <a:rPr lang="en-US" sz="1800" b="1" dirty="0">
                <a:solidFill>
                  <a:schemeClr val="tx2"/>
                </a:solidFill>
              </a:rPr>
              <a:t>Prior 3:</a:t>
            </a:r>
            <a:r>
              <a:rPr lang="en-US" sz="1800" dirty="0">
                <a:solidFill>
                  <a:schemeClr val="tx2"/>
                </a:solidFill>
              </a:rPr>
              <a:t> 100%</a:t>
            </a:r>
            <a:r>
              <a:rPr lang="en-US" sz="1800" b="1" dirty="0">
                <a:solidFill>
                  <a:schemeClr val="tx2"/>
                </a:solidFill>
              </a:rPr>
              <a:t>, </a:t>
            </a:r>
            <a:r>
              <a:rPr lang="en-US" sz="18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1800" baseline="-25000" dirty="0">
                <a:solidFill>
                  <a:schemeClr val="tx2"/>
                </a:solidFill>
              </a:rPr>
              <a:t>c </a:t>
            </a:r>
            <a:r>
              <a:rPr lang="en-US" sz="1800" dirty="0">
                <a:solidFill>
                  <a:schemeClr val="tx2"/>
                </a:solidFill>
              </a:rPr>
              <a:t> ~ Beta( 251, 980 ) </a:t>
            </a: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91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4DB5-2559-2E04-FC44-FF1A1048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5AC3-F5A0-BA19-1C81-E9600B67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Bayesian Model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7EF6DBB-2AF2-268B-8C78-E2B2A314D420}"/>
              </a:ext>
            </a:extLst>
          </p:cNvPr>
          <p:cNvSpPr txBox="1">
            <a:spLocks/>
          </p:cNvSpPr>
          <p:nvPr/>
        </p:nvSpPr>
        <p:spPr>
          <a:xfrm>
            <a:off x="634069" y="798786"/>
            <a:ext cx="11339513" cy="77613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Nunito Sans" panose="00000500000000000000" pitchFamily="2" charset="0"/>
              <a:buChar char="‒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Inter" panose="020B0502030000000004" pitchFamily="34" charset="0"/>
              <a:buChar char="&gt;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" panose="05000000000000000000" pitchFamily="2" charset="2"/>
              <a:buNone/>
            </a:pPr>
            <a:endParaRPr lang="en-US" sz="1200" b="1" dirty="0">
              <a:solidFill>
                <a:schemeClr val="tx2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sz="1200" b="1" dirty="0">
              <a:solidFill>
                <a:schemeClr val="tx2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chemeClr val="tx2"/>
                </a:solidFill>
              </a:rPr>
              <a:t>Prediction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2"/>
                </a:solidFill>
              </a:rPr>
              <a:t>Include prior study data and the data at the interim to obtain samples of the control response rate for the current trial using JAGS with the following model: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chemeClr val="tx2"/>
                </a:solidFill>
              </a:rPr>
              <a:t>	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chemeClr val="tx2"/>
                </a:solidFill>
              </a:rPr>
              <a:t>Decision Criteria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2"/>
                </a:solidFill>
              </a:rPr>
              <a:t>Analysis prior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2"/>
                </a:solidFill>
              </a:rPr>
              <a:t>Efficacy: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p = </a:t>
            </a:r>
            <a:r>
              <a:rPr lang="en-US" sz="2400" dirty="0" err="1">
                <a:solidFill>
                  <a:schemeClr val="tx2"/>
                </a:solidFill>
              </a:rPr>
              <a:t>Pr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 err="1">
                <a:solidFill>
                  <a:schemeClr val="tx2"/>
                </a:solidFill>
                <a:latin typeface="+mj-lt"/>
              </a:rPr>
              <a:t>E</a:t>
            </a:r>
            <a:r>
              <a:rPr lang="en-US" sz="2400" baseline="-25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&gt;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>
                <a:solidFill>
                  <a:schemeClr val="tx2"/>
                </a:solidFill>
                <a:latin typeface="+mj-lt"/>
              </a:rPr>
              <a:t>c </a:t>
            </a:r>
            <a:r>
              <a:rPr lang="en-US" sz="2400" dirty="0">
                <a:solidFill>
                  <a:schemeClr val="tx2"/>
                </a:solidFill>
              </a:rPr>
              <a:t>| data ) &gt; P</a:t>
            </a:r>
            <a:r>
              <a:rPr lang="en-US" sz="2400" baseline="-25000" dirty="0">
                <a:solidFill>
                  <a:schemeClr val="tx2"/>
                </a:solidFill>
              </a:rPr>
              <a:t>U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 E is better than C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Futility: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/>
                </a:solidFill>
                <a:sym typeface="Wingdings" panose="05000000000000000000" pitchFamily="2" charset="2"/>
              </a:rPr>
              <a:t>	Pred Prob{ [</a:t>
            </a:r>
            <a:r>
              <a:rPr lang="en-US" sz="2400" dirty="0" err="1">
                <a:solidFill>
                  <a:schemeClr val="tx2"/>
                </a:solidFill>
              </a:rPr>
              <a:t>Pr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 err="1">
                <a:solidFill>
                  <a:schemeClr val="tx2"/>
                </a:solidFill>
              </a:rPr>
              <a:t>E</a:t>
            </a:r>
            <a:r>
              <a:rPr lang="en-US" sz="2400" baseline="-250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&gt; </a:t>
            </a:r>
            <a:r>
              <a:rPr lang="en-US" sz="2400" dirty="0">
                <a:solidFill>
                  <a:schemeClr val="tx2"/>
                </a:solidFill>
                <a:latin typeface="Symbol" panose="05050102010706020507" pitchFamily="18" charset="2"/>
              </a:rPr>
              <a:t>p</a:t>
            </a:r>
            <a:r>
              <a:rPr lang="en-US" sz="2400" baseline="-25000" dirty="0">
                <a:solidFill>
                  <a:schemeClr val="tx2"/>
                </a:solidFill>
              </a:rPr>
              <a:t>c </a:t>
            </a:r>
            <a:r>
              <a:rPr lang="en-US" sz="2400" dirty="0">
                <a:solidFill>
                  <a:schemeClr val="tx2"/>
                </a:solidFill>
              </a:rPr>
              <a:t>| data at final ) &gt; </a:t>
            </a:r>
            <a:r>
              <a:rPr lang="en-US" sz="2400" dirty="0" err="1">
                <a:solidFill>
                  <a:schemeClr val="tx2"/>
                </a:solidFill>
              </a:rPr>
              <a:t>P</a:t>
            </a:r>
            <a:r>
              <a:rPr lang="en-US" sz="2400" baseline="-25000" dirty="0" err="1">
                <a:solidFill>
                  <a:schemeClr val="tx2"/>
                </a:solidFill>
              </a:rPr>
              <a:t>UFinal</a:t>
            </a:r>
            <a:r>
              <a:rPr lang="en-US" sz="2400" dirty="0">
                <a:solidFill>
                  <a:schemeClr val="tx2"/>
                </a:solidFill>
              </a:rPr>
              <a:t>] | data at Interim } &lt; PL  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6DE08-CB31-C3D9-0F45-E36A47760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960" y="2330926"/>
            <a:ext cx="6496407" cy="164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1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78B5-32AC-63E8-6269-70E9931D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00277-4F2A-7759-B033-EA344794072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711653" y="1587939"/>
            <a:ext cx="4099347" cy="3423733"/>
          </a:xfrm>
          <a:solidFill>
            <a:schemeClr val="accent3"/>
          </a:solidFill>
        </p:spPr>
        <p:txBody>
          <a:bodyPr/>
          <a:lstStyle/>
          <a:p>
            <a:r>
              <a:rPr lang="en-US" sz="2000" b="1" dirty="0">
                <a:solidFill>
                  <a:schemeClr val="tx2"/>
                </a:solidFill>
              </a:rPr>
              <a:t>Adding Additional Designs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Sample Sizes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Information Fraction</a:t>
            </a:r>
          </a:p>
          <a:p>
            <a:r>
              <a:rPr lang="en-US" dirty="0">
                <a:solidFill>
                  <a:schemeClr val="accent1"/>
                </a:solidFill>
              </a:rPr>
              <a:t>Futility Cutoff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Prior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DA326-E56D-BE40-E47E-FFEB7992D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8" y="1075072"/>
            <a:ext cx="6972301" cy="42227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Simple Bayesian Approach (Conjugate Prior)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BE8FE93A-B507-ECD5-A4BD-AB3C08D893B8}"/>
              </a:ext>
            </a:extLst>
          </p:cNvPr>
          <p:cNvSpPr txBox="1">
            <a:spLocks/>
          </p:cNvSpPr>
          <p:nvPr/>
        </p:nvSpPr>
        <p:spPr>
          <a:xfrm>
            <a:off x="380999" y="564670"/>
            <a:ext cx="11430000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Oncology Case Study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41FD87-C111-F22D-AB02-742DA281D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637339"/>
              </p:ext>
            </p:extLst>
          </p:nvPr>
        </p:nvGraphicFramePr>
        <p:xfrm>
          <a:off x="380999" y="1587939"/>
          <a:ext cx="7108372" cy="371509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878485">
                  <a:extLst>
                    <a:ext uri="{9D8B030D-6E8A-4147-A177-3AD203B41FA5}">
                      <a16:colId xmlns:a16="http://schemas.microsoft.com/office/drawing/2014/main" val="3647638585"/>
                    </a:ext>
                  </a:extLst>
                </a:gridCol>
                <a:gridCol w="3229887">
                  <a:extLst>
                    <a:ext uri="{9D8B030D-6E8A-4147-A177-3AD203B41FA5}">
                      <a16:colId xmlns:a16="http://schemas.microsoft.com/office/drawing/2014/main" val="2334090805"/>
                    </a:ext>
                  </a:extLst>
                </a:gridCol>
              </a:tblGrid>
              <a:tr h="3245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Design Parameter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928677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Endpoint Type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Binary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23667434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Sample Size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210</a:t>
                      </a:r>
                      <a:r>
                        <a:rPr lang="en-US" sz="1600" b="1" kern="100" dirty="0">
                          <a:solidFill>
                            <a:srgbClr val="FFC000"/>
                          </a:solidFill>
                          <a:effectLst/>
                        </a:rPr>
                        <a:t>, 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250, 290, 310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0373192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1-sided Type 1 Error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0.025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79325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Number of Interim Analyses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1 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at 40%, 50%, 60 IF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9556933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PU (At Interim Analysis)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PU = 0.995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300825"/>
                  </a:ext>
                </a:extLst>
              </a:tr>
              <a:tr h="33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 Final</a:t>
                      </a: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01811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PL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0.1, 0.01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676446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1"/>
                          </a:solidFill>
                          <a:effectLst/>
                        </a:rPr>
                        <a:t>Scenario Parameter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4735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solidFill>
                            <a:schemeClr val="tx2"/>
                          </a:solidFill>
                          <a:effectLst/>
                        </a:rPr>
                        <a:t>Response Proportion for Control Arm</a:t>
                      </a:r>
                      <a:endParaRPr lang="en-US" sz="160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0.20 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49786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>
                          <a:solidFill>
                            <a:schemeClr val="tx2"/>
                          </a:solidFill>
                          <a:effectLst/>
                        </a:rPr>
                        <a:t>Response Proportion for Treatment Arm</a:t>
                      </a:r>
                      <a:endParaRPr lang="en-US" sz="1600" kern="10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b="0" kern="100" dirty="0">
                          <a:solidFill>
                            <a:schemeClr val="tx2"/>
                          </a:solidFill>
                          <a:effectLst/>
                        </a:rPr>
                        <a:t>0.40</a:t>
                      </a:r>
                      <a:endParaRPr lang="en-US" sz="16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3799379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72D3375-E307-C906-1EFE-2EE3E2D3CDCC}"/>
              </a:ext>
            </a:extLst>
          </p:cNvPr>
          <p:cNvSpPr txBox="1"/>
          <p:nvPr/>
        </p:nvSpPr>
        <p:spPr>
          <a:xfrm>
            <a:off x="1531881" y="5496675"/>
            <a:ext cx="73306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accent3"/>
                </a:solidFill>
                <a:cs typeface="Arial" panose="020B0604020202020204" pitchFamily="34" charset="0"/>
              </a:rPr>
              <a:t>24</a:t>
            </a:r>
            <a:r>
              <a:rPr lang="en-GB" b="1" dirty="0">
                <a:solidFill>
                  <a:schemeClr val="accent3"/>
                </a:solidFill>
                <a:cs typeface="Arial" panose="020B0604020202020204" pitchFamily="34" charset="0"/>
              </a:rPr>
              <a:t> </a:t>
            </a:r>
            <a:r>
              <a:rPr lang="en-GB" sz="1800" b="1" dirty="0">
                <a:solidFill>
                  <a:schemeClr val="accent3"/>
                </a:solidFill>
                <a:cs typeface="Arial" panose="020B0604020202020204" pitchFamily="34" charset="0"/>
              </a:rPr>
              <a:t>designs added to the simulation for each Bayesian Approach</a:t>
            </a:r>
          </a:p>
          <a:p>
            <a:endParaRPr lang="en-GB" sz="1200" b="1" dirty="0">
              <a:solidFill>
                <a:schemeClr val="accent3"/>
              </a:solidFill>
              <a:cs typeface="Arial" panose="020B0604020202020204" pitchFamily="34" charset="0"/>
            </a:endParaRPr>
          </a:p>
          <a:p>
            <a:r>
              <a:rPr lang="en-GB" sz="1800" dirty="0">
                <a:solidFill>
                  <a:schemeClr val="accent3"/>
                </a:solidFill>
                <a:cs typeface="Arial" panose="020B0604020202020204" pitchFamily="34" charset="0"/>
              </a:rPr>
              <a:t>Total Bayesian designs added to simulation: 96</a:t>
            </a:r>
          </a:p>
          <a:p>
            <a:r>
              <a:rPr lang="en-GB" dirty="0">
                <a:solidFill>
                  <a:schemeClr val="accent3"/>
                </a:solidFill>
                <a:cs typeface="Arial" panose="020B0604020202020204" pitchFamily="34" charset="0"/>
              </a:rPr>
              <a:t>Total Frequentist designs added to simulation: 60</a:t>
            </a:r>
          </a:p>
          <a:p>
            <a:r>
              <a:rPr lang="en-GB" sz="1800" b="1" dirty="0">
                <a:solidFill>
                  <a:schemeClr val="accent3"/>
                </a:solidFill>
                <a:cs typeface="Arial" panose="020B0604020202020204" pitchFamily="34" charset="0"/>
              </a:rPr>
              <a:t>Total Designs</a:t>
            </a:r>
            <a:r>
              <a:rPr lang="en-GB" b="1" dirty="0">
                <a:solidFill>
                  <a:schemeClr val="accent3"/>
                </a:solidFill>
                <a:cs typeface="Arial" panose="020B0604020202020204" pitchFamily="34" charset="0"/>
              </a:rPr>
              <a:t>: 156</a:t>
            </a:r>
            <a:endParaRPr lang="en-GB" sz="1800" b="1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24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FE4A3-44E3-B2DF-793A-04F525F6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A44E7-57BF-3B4A-2F59-B36C679A08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8" y="1075072"/>
            <a:ext cx="6972301" cy="42227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Impact of different control response rates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288D7FF3-525E-432D-8EF8-5A67825DD3A0}"/>
              </a:ext>
            </a:extLst>
          </p:cNvPr>
          <p:cNvSpPr txBox="1">
            <a:spLocks/>
          </p:cNvSpPr>
          <p:nvPr/>
        </p:nvSpPr>
        <p:spPr>
          <a:xfrm>
            <a:off x="380999" y="564670"/>
            <a:ext cx="11430000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Sensitivity Analysis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AF8019-D06E-66C3-4F4F-90066BD1C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329414"/>
              </p:ext>
            </p:extLst>
          </p:nvPr>
        </p:nvGraphicFramePr>
        <p:xfrm>
          <a:off x="507122" y="1828210"/>
          <a:ext cx="8815554" cy="24915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971077">
                  <a:extLst>
                    <a:ext uri="{9D8B030D-6E8A-4147-A177-3AD203B41FA5}">
                      <a16:colId xmlns:a16="http://schemas.microsoft.com/office/drawing/2014/main" val="2334090805"/>
                    </a:ext>
                  </a:extLst>
                </a:gridCol>
                <a:gridCol w="4844477">
                  <a:extLst>
                    <a:ext uri="{9D8B030D-6E8A-4147-A177-3AD203B41FA5}">
                      <a16:colId xmlns:a16="http://schemas.microsoft.com/office/drawing/2014/main" val="1788139164"/>
                    </a:ext>
                  </a:extLst>
                </a:gridCol>
              </a:tblGrid>
              <a:tr h="9525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Control Response Rate</a:t>
                      </a:r>
                      <a:endParaRPr lang="en-US" sz="24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Experimental Response Rate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47355"/>
                  </a:ext>
                </a:extLst>
              </a:tr>
              <a:tr h="5129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</a:rPr>
                        <a:t>0.20 </a:t>
                      </a:r>
                      <a:endParaRPr lang="en-US" sz="24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0.20</a:t>
                      </a: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0.25, 0.30, </a:t>
                      </a:r>
                      <a:r>
                        <a:rPr lang="en-US" sz="24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4978607"/>
                  </a:ext>
                </a:extLst>
              </a:tr>
              <a:tr h="5129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</a:rPr>
                        <a:t>0.15</a:t>
                      </a:r>
                      <a:endParaRPr lang="en-US" sz="24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0.15</a:t>
                      </a: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0.20, 0.25, </a:t>
                      </a:r>
                      <a:r>
                        <a:rPr lang="en-US" sz="24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37993795"/>
                  </a:ext>
                </a:extLst>
              </a:tr>
              <a:tr h="5129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0.25</a:t>
                      </a: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0.30, 0.35, </a:t>
                      </a:r>
                      <a:r>
                        <a:rPr lang="en-US" sz="24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376793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C40EFD0-7F83-5BAF-99C5-74E90EF9752E}"/>
              </a:ext>
            </a:extLst>
          </p:cNvPr>
          <p:cNvSpPr txBox="1"/>
          <p:nvPr/>
        </p:nvSpPr>
        <p:spPr>
          <a:xfrm>
            <a:off x="507122" y="4539930"/>
            <a:ext cx="11684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cs typeface="Arial" panose="020B0604020202020204" pitchFamily="34" charset="0"/>
              </a:rPr>
              <a:t>Futility Goals</a:t>
            </a:r>
          </a:p>
          <a:p>
            <a:r>
              <a:rPr lang="en-GB" sz="2400" dirty="0">
                <a:cs typeface="Arial" panose="020B0604020202020204" pitchFamily="34" charset="0"/>
              </a:rPr>
              <a:t>In the </a:t>
            </a:r>
            <a:r>
              <a:rPr lang="en-GB" sz="2400" b="1" dirty="0">
                <a:solidFill>
                  <a:srgbClr val="00B050"/>
                </a:solidFill>
                <a:cs typeface="Arial" panose="020B0604020202020204" pitchFamily="34" charset="0"/>
              </a:rPr>
              <a:t>alternative</a:t>
            </a:r>
            <a:r>
              <a:rPr lang="en-GB" sz="2400" dirty="0">
                <a:cs typeface="Arial" panose="020B0604020202020204" pitchFamily="34" charset="0"/>
              </a:rPr>
              <a:t>, teams want less than 1%-2% probability of declaring futility</a:t>
            </a:r>
          </a:p>
          <a:p>
            <a:r>
              <a:rPr lang="en-GB" sz="2400" dirty="0">
                <a:cs typeface="Arial" panose="020B0604020202020204" pitchFamily="34" charset="0"/>
              </a:rPr>
              <a:t>Minimum probability of futility in </a:t>
            </a:r>
            <a:r>
              <a:rPr lang="en-GB" sz="2400" b="1" dirty="0">
                <a:solidFill>
                  <a:srgbClr val="FF0000"/>
                </a:solidFill>
                <a:cs typeface="Arial" panose="020B0604020202020204" pitchFamily="34" charset="0"/>
              </a:rPr>
              <a:t>null </a:t>
            </a:r>
            <a:r>
              <a:rPr lang="en-GB" sz="2400" dirty="0">
                <a:cs typeface="Arial" panose="020B0604020202020204" pitchFamily="34" charset="0"/>
              </a:rPr>
              <a:t>cases of 50% </a:t>
            </a:r>
          </a:p>
        </p:txBody>
      </p:sp>
    </p:spTree>
    <p:extLst>
      <p:ext uri="{BB962C8B-B14F-4D97-AF65-F5344CB8AC3E}">
        <p14:creationId xmlns:p14="http://schemas.microsoft.com/office/powerpoint/2010/main" val="10078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3FCE-C051-5805-63F7-494BF597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9074-EFD2-7B40-D2EE-51F98581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Drawback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65F0-9068-ED5F-D52C-BBD479057DD2}"/>
              </a:ext>
            </a:extLst>
          </p:cNvPr>
          <p:cNvSpPr txBox="1">
            <a:spLocks/>
          </p:cNvSpPr>
          <p:nvPr/>
        </p:nvSpPr>
        <p:spPr>
          <a:xfrm>
            <a:off x="471487" y="1042099"/>
            <a:ext cx="11339513" cy="5627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Nunito Sans" panose="00000500000000000000" pitchFamily="2" charset="0"/>
              <a:buChar char="‒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Inter" panose="020B0502030000000004" pitchFamily="34" charset="0"/>
              <a:buChar char="&gt;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-339725"/>
            <a:r>
              <a:rPr lang="en-US" sz="3200" dirty="0">
                <a:solidFill>
                  <a:schemeClr val="tx2"/>
                </a:solidFill>
              </a:rPr>
              <a:t>These Bayesian options are not currently native to East Horizon </a:t>
            </a:r>
          </a:p>
          <a:p>
            <a:pPr marL="914400" lvl="2" indent="-339725"/>
            <a:r>
              <a:rPr lang="en-US" sz="3200" dirty="0">
                <a:solidFill>
                  <a:schemeClr val="tx2"/>
                </a:solidFill>
              </a:rPr>
              <a:t>Not proficient in R</a:t>
            </a:r>
          </a:p>
          <a:p>
            <a:pPr marL="1188720" lvl="3" indent="-339725"/>
            <a:r>
              <a:rPr lang="en-US" sz="2400" dirty="0">
                <a:solidFill>
                  <a:schemeClr val="tx2"/>
                </a:solidFill>
              </a:rPr>
              <a:t>Don’t want to develop an entire code base for the simulations to include Bayesian options</a:t>
            </a:r>
          </a:p>
          <a:p>
            <a:pPr marL="914400" lvl="2" indent="-339725"/>
            <a:r>
              <a:rPr lang="en-US" sz="3200" dirty="0">
                <a:solidFill>
                  <a:schemeClr val="tx2"/>
                </a:solidFill>
              </a:rPr>
              <a:t>Already have R code available for both types of Bayesian analysis </a:t>
            </a:r>
          </a:p>
          <a:p>
            <a:pPr marL="914400" lvl="2" indent="-339725"/>
            <a:r>
              <a:rPr lang="en-US" sz="3200" dirty="0">
                <a:solidFill>
                  <a:schemeClr val="tx2"/>
                </a:solidFill>
              </a:rPr>
              <a:t>Don’t want to use East Horizon for frequentist designs and develop all the code for the Bayesian designs</a:t>
            </a: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91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DCD11-9C78-54D8-50E7-98662131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718362-E608-7FA6-1B03-EC0C85FD0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21" y="1281955"/>
            <a:ext cx="11317279" cy="5725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19D14-48A8-5874-4EA2-FFD87332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Bayesian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5AE07-FD87-A821-476C-CF4943ED6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5AB76A-9C31-64D5-798D-920897F5E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267" y="3207112"/>
            <a:ext cx="6242757" cy="235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2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F2DFD4-37B0-7EAE-B689-52B0B1165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21" y="1281955"/>
            <a:ext cx="11317279" cy="5725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2249A5-409A-D774-B0E8-1E2E72EF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Bayesian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E9F0-0DA3-1BC7-7C53-2728524C4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CD89A-DE0E-224A-391D-6E5733A77664}"/>
              </a:ext>
            </a:extLst>
          </p:cNvPr>
          <p:cNvSpPr txBox="1"/>
          <p:nvPr/>
        </p:nvSpPr>
        <p:spPr>
          <a:xfrm>
            <a:off x="2896842" y="3203299"/>
            <a:ext cx="66091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need help with a function that will perform a Bayesian analysis where I assume a beta prior and will use the posterior probability for decision making.  At the interim analysis, I the posterior probability is above PU then stop early for success and if not check the futility rule.  In addition, at the interim analysis I would like to have a futility check where I compute the Bayesian predictive probability of success using the same Bayesian analysis  the end of the trial but using a posterior probability greater than </a:t>
            </a:r>
            <a:r>
              <a:rPr lang="en-US" sz="1600" dirty="0" err="1"/>
              <a:t>PUFinal</a:t>
            </a:r>
            <a:r>
              <a:rPr lang="en-US" sz="1600" dirty="0"/>
              <a:t> to determine success.  If the predictive probability of success at the end of the study is less then PL at the interim analysis then stop the trial for futility </a:t>
            </a:r>
          </a:p>
        </p:txBody>
      </p:sp>
    </p:spTree>
    <p:extLst>
      <p:ext uri="{BB962C8B-B14F-4D97-AF65-F5344CB8AC3E}">
        <p14:creationId xmlns:p14="http://schemas.microsoft.com/office/powerpoint/2010/main" val="4034787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C8D650-EA23-6309-2096-07E87B3EE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217" y="197862"/>
            <a:ext cx="8097924" cy="615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78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ABE7EDC-59BD-0B25-4A16-34C2E37E4C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1E7228-34BA-6F69-CB96-45D91D456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67" y="202266"/>
            <a:ext cx="9543916" cy="614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860CDA-FAF9-8B51-8560-C59F40B0128F}"/>
              </a:ext>
            </a:extLst>
          </p:cNvPr>
          <p:cNvSpPr/>
          <p:nvPr/>
        </p:nvSpPr>
        <p:spPr>
          <a:xfrm>
            <a:off x="1910687" y="1980265"/>
            <a:ext cx="5600131" cy="3779090"/>
          </a:xfrm>
          <a:prstGeom prst="rect">
            <a:avLst/>
          </a:prstGeom>
          <a:noFill/>
          <a:ln w="698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C8775A-F8E6-6598-0AA7-087300ADCC30}"/>
              </a:ext>
            </a:extLst>
          </p:cNvPr>
          <p:cNvSpPr/>
          <p:nvPr/>
        </p:nvSpPr>
        <p:spPr>
          <a:xfrm>
            <a:off x="1768797" y="202266"/>
            <a:ext cx="5600131" cy="407334"/>
          </a:xfrm>
          <a:prstGeom prst="rect">
            <a:avLst/>
          </a:prstGeom>
          <a:noFill/>
          <a:ln w="698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E76F93-DAFD-4A88-41D9-2D55D7821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83"/>
            <a:ext cx="12192000" cy="6326688"/>
          </a:xfrm>
          <a:prstGeom prst="rect">
            <a:avLst/>
          </a:prstGeom>
        </p:spPr>
      </p:pic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B1A51367-0B60-190E-B02F-3D97F710E2C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9EE24-A3B9-0D0D-9125-F27474C31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05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72B0-EA35-928D-CC97-ABB8CFF0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845AD-3C35-9321-A560-0CDA362A1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8" y="1075072"/>
            <a:ext cx="6972301" cy="42227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Impact of different control response rates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7AE318F4-CDDA-7994-1EDA-4672E541620E}"/>
              </a:ext>
            </a:extLst>
          </p:cNvPr>
          <p:cNvSpPr txBox="1">
            <a:spLocks/>
          </p:cNvSpPr>
          <p:nvPr/>
        </p:nvSpPr>
        <p:spPr>
          <a:xfrm>
            <a:off x="380999" y="564670"/>
            <a:ext cx="11430000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Sensitivity Analysis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4F0B72-0CED-B2DF-A90B-7FEAAD0C7136}"/>
              </a:ext>
            </a:extLst>
          </p:cNvPr>
          <p:cNvGraphicFramePr>
            <a:graphicFrameLocks noGrp="1"/>
          </p:cNvGraphicFramePr>
          <p:nvPr/>
        </p:nvGraphicFramePr>
        <p:xfrm>
          <a:off x="507122" y="1828210"/>
          <a:ext cx="8815554" cy="24915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971077">
                  <a:extLst>
                    <a:ext uri="{9D8B030D-6E8A-4147-A177-3AD203B41FA5}">
                      <a16:colId xmlns:a16="http://schemas.microsoft.com/office/drawing/2014/main" val="2334090805"/>
                    </a:ext>
                  </a:extLst>
                </a:gridCol>
                <a:gridCol w="4844477">
                  <a:extLst>
                    <a:ext uri="{9D8B030D-6E8A-4147-A177-3AD203B41FA5}">
                      <a16:colId xmlns:a16="http://schemas.microsoft.com/office/drawing/2014/main" val="1788139164"/>
                    </a:ext>
                  </a:extLst>
                </a:gridCol>
              </a:tblGrid>
              <a:tr h="9525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</a:rPr>
                        <a:t>Control Response Rate</a:t>
                      </a:r>
                      <a:endParaRPr lang="en-US" sz="24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Experimental Response Rate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47355"/>
                  </a:ext>
                </a:extLst>
              </a:tr>
              <a:tr h="5129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</a:rPr>
                        <a:t>0.20 </a:t>
                      </a:r>
                      <a:endParaRPr lang="en-US" sz="24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0.20</a:t>
                      </a: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0.25, 0.30, </a:t>
                      </a:r>
                      <a:r>
                        <a:rPr lang="en-US" sz="24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4978607"/>
                  </a:ext>
                </a:extLst>
              </a:tr>
              <a:tr h="5129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</a:rPr>
                        <a:t>0.15</a:t>
                      </a:r>
                      <a:endParaRPr lang="en-US" sz="2400" b="0" kern="100" dirty="0">
                        <a:solidFill>
                          <a:schemeClr val="tx2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0.15</a:t>
                      </a: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0.20, 0.25, </a:t>
                      </a:r>
                      <a:r>
                        <a:rPr lang="en-US" sz="24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37993795"/>
                  </a:ext>
                </a:extLst>
              </a:tr>
              <a:tr h="5129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0.25</a:t>
                      </a:r>
                      <a:r>
                        <a:rPr lang="en-US" sz="2400" b="0" kern="1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0.30, 0.35, </a:t>
                      </a:r>
                      <a:r>
                        <a:rPr lang="en-US" sz="24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376793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4B4D28-1986-69EC-0BE8-EB3459AD2C51}"/>
              </a:ext>
            </a:extLst>
          </p:cNvPr>
          <p:cNvSpPr txBox="1"/>
          <p:nvPr/>
        </p:nvSpPr>
        <p:spPr>
          <a:xfrm>
            <a:off x="507122" y="4539930"/>
            <a:ext cx="11684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cs typeface="Arial" panose="020B0604020202020204" pitchFamily="34" charset="0"/>
              </a:rPr>
              <a:t>Futility Goals</a:t>
            </a:r>
          </a:p>
          <a:p>
            <a:r>
              <a:rPr lang="en-GB" sz="2400" dirty="0">
                <a:cs typeface="Arial" panose="020B0604020202020204" pitchFamily="34" charset="0"/>
              </a:rPr>
              <a:t>In the </a:t>
            </a:r>
            <a:r>
              <a:rPr lang="en-GB" sz="2400" b="1" dirty="0">
                <a:solidFill>
                  <a:srgbClr val="00B050"/>
                </a:solidFill>
                <a:cs typeface="Arial" panose="020B0604020202020204" pitchFamily="34" charset="0"/>
              </a:rPr>
              <a:t>alternative</a:t>
            </a:r>
            <a:r>
              <a:rPr lang="en-GB" sz="2400" dirty="0">
                <a:cs typeface="Arial" panose="020B0604020202020204" pitchFamily="34" charset="0"/>
              </a:rPr>
              <a:t>, teams want less than 1%-2% probability of declaring futility</a:t>
            </a:r>
          </a:p>
          <a:p>
            <a:r>
              <a:rPr lang="en-GB" sz="2400" dirty="0">
                <a:cs typeface="Arial" panose="020B0604020202020204" pitchFamily="34" charset="0"/>
              </a:rPr>
              <a:t>Minimum probability of futility in </a:t>
            </a:r>
            <a:r>
              <a:rPr lang="en-GB" sz="2400" b="1" dirty="0">
                <a:solidFill>
                  <a:srgbClr val="FF0000"/>
                </a:solidFill>
                <a:cs typeface="Arial" panose="020B0604020202020204" pitchFamily="34" charset="0"/>
              </a:rPr>
              <a:t>null </a:t>
            </a:r>
            <a:r>
              <a:rPr lang="en-GB" sz="2400" dirty="0">
                <a:cs typeface="Arial" panose="020B0604020202020204" pitchFamily="34" charset="0"/>
              </a:rPr>
              <a:t>cases of 50% </a:t>
            </a:r>
          </a:p>
        </p:txBody>
      </p:sp>
    </p:spTree>
    <p:extLst>
      <p:ext uri="{BB962C8B-B14F-4D97-AF65-F5344CB8AC3E}">
        <p14:creationId xmlns:p14="http://schemas.microsoft.com/office/powerpoint/2010/main" val="1616577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1EB7B-BD05-DF76-74ED-4550F55C2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7794C-7A78-C6EE-3238-22E16000D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2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9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C27E-8F4D-6357-4EA2-69928793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322AE-CE5F-35F0-5560-E6C76E6DA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50A55F-310D-7631-68D5-AE0D515A6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72944-8001-CAAF-1299-6ED4117A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368225-E5CA-A7D6-81B4-25A5D333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749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803DC-083F-8768-F8EA-4FF14D23D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0032A7-A0AB-60C8-2A31-E7AE62508324}"/>
              </a:ext>
            </a:extLst>
          </p:cNvPr>
          <p:cNvCxnSpPr>
            <a:cxnSpLocks/>
          </p:cNvCxnSpPr>
          <p:nvPr/>
        </p:nvCxnSpPr>
        <p:spPr>
          <a:xfrm flipH="1" flipV="1">
            <a:off x="2669628" y="3510455"/>
            <a:ext cx="767255" cy="6306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74FB03-4AA5-258C-6047-01808775E177}"/>
              </a:ext>
            </a:extLst>
          </p:cNvPr>
          <p:cNvSpPr txBox="1"/>
          <p:nvPr/>
        </p:nvSpPr>
        <p:spPr>
          <a:xfrm>
            <a:off x="3468414" y="3762703"/>
            <a:ext cx="4067503" cy="1569660"/>
          </a:xfrm>
          <a:prstGeom prst="rect">
            <a:avLst/>
          </a:prstGeom>
          <a:solidFill>
            <a:schemeClr val="bg1"/>
          </a:solidFill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Some designs had a 15.1% chance of stopping for futility in the alternative case 20% vs 40%</a:t>
            </a:r>
          </a:p>
        </p:txBody>
      </p:sp>
    </p:spTree>
    <p:extLst>
      <p:ext uri="{BB962C8B-B14F-4D97-AF65-F5344CB8AC3E}">
        <p14:creationId xmlns:p14="http://schemas.microsoft.com/office/powerpoint/2010/main" val="236602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6F9F-9670-F21D-BCB8-246915BE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F32A8-F46F-43E8-DEFB-B28FE9815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A6624E-BC64-EAF3-6183-74294207D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5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86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9CB6-36B5-C256-403E-E95F67B0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804EA-2C67-69BE-5170-DD038D1F6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D964AF-8D8D-08DA-AE13-FD129C2C0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809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CCBE38-4CED-EC08-76A2-9941125AD33E}"/>
              </a:ext>
            </a:extLst>
          </p:cNvPr>
          <p:cNvSpPr txBox="1"/>
          <p:nvPr/>
        </p:nvSpPr>
        <p:spPr>
          <a:xfrm>
            <a:off x="3390355" y="3013501"/>
            <a:ext cx="4067503" cy="830997"/>
          </a:xfrm>
          <a:prstGeom prst="rect">
            <a:avLst/>
          </a:prstGeom>
          <a:solidFill>
            <a:schemeClr val="bg1"/>
          </a:solidFill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Futility constraints added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N = 210</a:t>
            </a:r>
          </a:p>
        </p:txBody>
      </p:sp>
    </p:spTree>
    <p:extLst>
      <p:ext uri="{BB962C8B-B14F-4D97-AF65-F5344CB8AC3E}">
        <p14:creationId xmlns:p14="http://schemas.microsoft.com/office/powerpoint/2010/main" val="698174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3271-2D7A-CB79-D744-4960938F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E2D2E-14AB-29F9-C9E4-4CB6B58C7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57618-8A3F-4BF2-AF0B-76D53F417244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242ECD-4471-5707-A2BC-A9D21B698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03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EB90B-1B84-59E5-8499-3B1CE904614B}"/>
              </a:ext>
            </a:extLst>
          </p:cNvPr>
          <p:cNvSpPr txBox="1"/>
          <p:nvPr/>
        </p:nvSpPr>
        <p:spPr>
          <a:xfrm>
            <a:off x="3399880" y="4185076"/>
            <a:ext cx="8286086" cy="1200329"/>
          </a:xfrm>
          <a:prstGeom prst="rect">
            <a:avLst/>
          </a:prstGeom>
          <a:solidFill>
            <a:schemeClr val="bg1"/>
          </a:solidFill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Futility constraints added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N = 310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1 Conditional Power Option meets the criteria</a:t>
            </a:r>
          </a:p>
        </p:txBody>
      </p:sp>
    </p:spTree>
    <p:extLst>
      <p:ext uri="{BB962C8B-B14F-4D97-AF65-F5344CB8AC3E}">
        <p14:creationId xmlns:p14="http://schemas.microsoft.com/office/powerpoint/2010/main" val="3035017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48A9-2393-BF1F-8AF0-7719EB88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00C4-A655-0801-90A7-C39733FF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Summary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B58C60F-BEB4-6CF4-F65A-EBFF5ABB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19981"/>
            <a:ext cx="11696700" cy="4351338"/>
          </a:xfrm>
        </p:spPr>
        <p:txBody>
          <a:bodyPr>
            <a:normAutofit fontScale="92500" lnSpcReduction="10000"/>
          </a:bodyPr>
          <a:lstStyle/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Hierarchical Bayesian model included in the prediction for futility had the most robust performance </a:t>
            </a:r>
          </a:p>
          <a:p>
            <a:pPr marL="89154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Also applied if the same model is used for analysis (simulations not discussed)</a:t>
            </a:r>
          </a:p>
          <a:p>
            <a:pPr lvl="2" indent="0">
              <a:buNone/>
            </a:pP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The Beta-Binomial model with historical data in the prediction for futility had robust performance</a:t>
            </a:r>
          </a:p>
          <a:p>
            <a:pPr marL="891540" lvl="2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2"/>
                </a:solidFill>
                <a:latin typeface="Segoe UI" panose="020B0502040204020203" pitchFamily="34" charset="0"/>
              </a:rPr>
              <a:t>MAJOR CAUTION </a:t>
            </a: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– Not true in general, especially in therapeutic areas that have high trial to trial variation in the control response rate</a:t>
            </a:r>
          </a:p>
          <a:p>
            <a:pPr marL="89154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Not true if the same prior is used for analysis</a:t>
            </a:r>
          </a:p>
          <a:p>
            <a:pPr lvl="2" indent="0">
              <a:buNone/>
            </a:pP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Conditional Power and Observed difference both meet the criteria if the futility probability in the alternative is increased to 2%-3%</a:t>
            </a:r>
          </a:p>
          <a:p>
            <a:pPr marL="89154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In general, required larger average sample size and slightly longer average trial duration 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792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C141-2865-7DC1-78B3-4834E0FFB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B363-63D5-8E1E-3992-3E3356B3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D54644E-6650-A9A8-9CEA-8F85C2B4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19981"/>
            <a:ext cx="11115675" cy="5042694"/>
          </a:xfrm>
        </p:spPr>
        <p:txBody>
          <a:bodyPr>
            <a:normAutofit lnSpcReduction="10000"/>
          </a:bodyPr>
          <a:lstStyle/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Hybrid approach of East Horizon and the R integration removed limitations and allowed both frequentist and Bayesian options to be considered in the same software platform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Use of the coding assistant reduced the code development time to under 1 hour for the Bayesian analysis, predictive probabilities, and hierarchical model/JAGS code 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Comparison of standard native approaches to newly published or exploratory options is greatly simplified with the R integration</a:t>
            </a:r>
          </a:p>
          <a:p>
            <a:pPr marL="1165860" lvl="3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Patient arrival time, data generation, analysis</a:t>
            </a:r>
          </a:p>
          <a:p>
            <a:pPr marL="89154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General flow: </a:t>
            </a:r>
          </a:p>
          <a:p>
            <a:pPr marL="116586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R integration </a:t>
            </a: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chemeClr val="tx2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CyneRgy</a:t>
            </a: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  Anything in </a:t>
            </a:r>
            <a:r>
              <a:rPr lang="en-US" sz="2400" dirty="0" err="1">
                <a:solidFill>
                  <a:schemeClr val="tx2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CyneRgy</a:t>
            </a: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 appears as a native option in East Horizon </a:t>
            </a:r>
          </a:p>
          <a:p>
            <a:pPr marL="116586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</a:rPr>
              <a:t>R integration </a:t>
            </a: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 Private Client Repo  Appears as a native option in East Horizon for that client</a:t>
            </a: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  <a:p>
            <a:pPr marL="834390" lvl="2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030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53CBF94-6D97-583A-E457-49BF9224D3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6500" y="549565"/>
            <a:ext cx="5232400" cy="116840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12" name="Picture Placeholder 19">
            <a:extLst>
              <a:ext uri="{FF2B5EF4-FFF2-40B4-BE49-F238E27FC236}">
                <a16:creationId xmlns:a16="http://schemas.microsoft.com/office/drawing/2014/main" id="{4C3368A4-9918-CAB3-5EBF-92470966F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4230" y="202280"/>
            <a:ext cx="2521870" cy="2521870"/>
          </a:xfrm>
          <a:custGeom>
            <a:avLst/>
            <a:gdLst>
              <a:gd name="connsiteX0" fmla="*/ 764388 w 1528776"/>
              <a:gd name="connsiteY0" fmla="*/ 0 h 1528776"/>
              <a:gd name="connsiteX1" fmla="*/ 1528776 w 1528776"/>
              <a:gd name="connsiteY1" fmla="*/ 764388 h 1528776"/>
              <a:gd name="connsiteX2" fmla="*/ 764388 w 1528776"/>
              <a:gd name="connsiteY2" fmla="*/ 1528776 h 1528776"/>
              <a:gd name="connsiteX3" fmla="*/ 0 w 1528776"/>
              <a:gd name="connsiteY3" fmla="*/ 764388 h 1528776"/>
              <a:gd name="connsiteX4" fmla="*/ 764388 w 1528776"/>
              <a:gd name="connsiteY4" fmla="*/ 0 h 1528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8776" h="1528776">
                <a:moveTo>
                  <a:pt x="764388" y="0"/>
                </a:moveTo>
                <a:cubicBezTo>
                  <a:pt x="1186548" y="0"/>
                  <a:pt x="1528776" y="342228"/>
                  <a:pt x="1528776" y="764388"/>
                </a:cubicBezTo>
                <a:cubicBezTo>
                  <a:pt x="1528776" y="1186548"/>
                  <a:pt x="1186548" y="1528776"/>
                  <a:pt x="764388" y="1528776"/>
                </a:cubicBezTo>
                <a:cubicBezTo>
                  <a:pt x="342228" y="1528776"/>
                  <a:pt x="0" y="1186548"/>
                  <a:pt x="0" y="764388"/>
                </a:cubicBezTo>
                <a:cubicBezTo>
                  <a:pt x="0" y="342228"/>
                  <a:pt x="342228" y="0"/>
                  <a:pt x="764388" y="0"/>
                </a:cubicBezTo>
                <a:close/>
              </a:path>
            </a:pathLst>
          </a:cu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B21664-636B-DADA-86C7-4A02D3EF05E5}"/>
              </a:ext>
            </a:extLst>
          </p:cNvPr>
          <p:cNvSpPr txBox="1"/>
          <p:nvPr/>
        </p:nvSpPr>
        <p:spPr>
          <a:xfrm>
            <a:off x="6353175" y="1558925"/>
            <a:ext cx="3924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J. Kyle Wathen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kyle.wathen@cytel.com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B6336C-7EC4-33A7-23C3-DE45B4FA7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230" y="3987333"/>
            <a:ext cx="2740084" cy="26683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557594-D058-E251-D086-AFC2D66111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1497" y="4041307"/>
            <a:ext cx="2156233" cy="24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216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141">
      <a:dk1>
        <a:srgbClr val="000000"/>
      </a:dk1>
      <a:lt1>
        <a:sysClr val="window" lastClr="FFFFFF"/>
      </a:lt1>
      <a:dk2>
        <a:srgbClr val="2B275E"/>
      </a:dk2>
      <a:lt2>
        <a:srgbClr val="ED2985"/>
      </a:lt2>
      <a:accent1>
        <a:srgbClr val="2B275E"/>
      </a:accent1>
      <a:accent2>
        <a:srgbClr val="ED2985"/>
      </a:accent2>
      <a:accent3>
        <a:srgbClr val="FBAE42"/>
      </a:accent3>
      <a:accent4>
        <a:srgbClr val="DDD9D6"/>
      </a:accent4>
      <a:accent5>
        <a:srgbClr val="DDD9D6"/>
      </a:accent5>
      <a:accent6>
        <a:srgbClr val="9B9896"/>
      </a:accent6>
      <a:hlink>
        <a:srgbClr val="2C2B2B"/>
      </a:hlink>
      <a:folHlink>
        <a:srgbClr val="6ABF4B"/>
      </a:folHlink>
    </a:clrScheme>
    <a:fontScheme name="Custom 69">
      <a:majorFont>
        <a:latin typeface="Tahoma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4125</TotalTime>
  <Words>1598</Words>
  <Application>Microsoft Office PowerPoint</Application>
  <PresentationFormat>Widescreen</PresentationFormat>
  <Paragraphs>325</Paragraphs>
  <Slides>28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Inter</vt:lpstr>
      <vt:lpstr>Nunito Sans</vt:lpstr>
      <vt:lpstr>Segoe UI</vt:lpstr>
      <vt:lpstr>Symbol</vt:lpstr>
      <vt:lpstr>Tahoma</vt:lpstr>
      <vt:lpstr>Wingdings</vt:lpstr>
      <vt:lpstr>1_Office Theme</vt:lpstr>
      <vt:lpstr>think-cell Slide</vt:lpstr>
      <vt:lpstr>Interim Decision Rules for Early Futility: A Comparative Assessment of Bayesian and Frequentist Approaches</vt:lpstr>
      <vt:lpstr>Motivations for the Proposed Talk</vt:lpstr>
      <vt:lpstr>Potential Options for Futility Decision</vt:lpstr>
      <vt:lpstr>PowerPoint Presentation</vt:lpstr>
      <vt:lpstr>PowerPoint Presentation</vt:lpstr>
      <vt:lpstr>PowerPoint Presentation</vt:lpstr>
      <vt:lpstr>PowerPoint Presentation</vt:lpstr>
      <vt:lpstr>Include External/Historical Data in Prediction</vt:lpstr>
      <vt:lpstr>Bayesian Model</vt:lpstr>
      <vt:lpstr>Hierarchical Bayesian Model</vt:lpstr>
      <vt:lpstr>PowerPoint Presentation</vt:lpstr>
      <vt:lpstr>PowerPoint Presentation</vt:lpstr>
      <vt:lpstr>Possible Drawback</vt:lpstr>
      <vt:lpstr>Implementation of Bayesian Analysis</vt:lpstr>
      <vt:lpstr>Implementation of Bayesian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Simulation Summary</vt:lpstr>
      <vt:lpstr>Summary</vt:lpstr>
      <vt:lpstr>PowerPoint Presentation</vt:lpstr>
    </vt:vector>
  </TitlesOfParts>
  <Company>Cytel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Horizon</dc:title>
  <dc:creator>Kelly Gelinne</dc:creator>
  <cp:lastModifiedBy>Kyle Wathen</cp:lastModifiedBy>
  <cp:revision>16</cp:revision>
  <dcterms:created xsi:type="dcterms:W3CDTF">2024-07-02T19:46:13Z</dcterms:created>
  <dcterms:modified xsi:type="dcterms:W3CDTF">2025-10-23T05:40:43Z</dcterms:modified>
</cp:coreProperties>
</file>